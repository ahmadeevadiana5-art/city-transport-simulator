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7" r:id="rId4"/>
    <p:sldId id="271" r:id="rId5"/>
    <p:sldId id="266" r:id="rId6"/>
    <p:sldId id="267" r:id="rId7"/>
    <p:sldId id="268" r:id="rId8"/>
    <p:sldId id="270" r:id="rId9"/>
    <p:sldId id="264" r:id="rId10"/>
    <p:sldId id="265" r:id="rId11"/>
    <p:sldId id="263" r:id="rId12"/>
    <p:sldId id="269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ExtraBold" panose="00000900000000000000" pitchFamily="2" charset="0"/>
      <p:bold r:id="rId19"/>
      <p:boldItalic r:id="rId20"/>
    </p:embeddedFont>
    <p:embeddedFont>
      <p:font typeface="Montserrat Medium" panose="00000600000000000000" pitchFamily="2" charset="0"/>
      <p:regular r:id="rId21"/>
      <p:bold r:id="rId22"/>
      <p:italic r:id="rId23"/>
      <p:boldItalic r:id="rId24"/>
    </p:embeddedFont>
    <p:embeddedFont>
      <p:font typeface="Montserrat SemiBold" panose="000007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14">
          <p15:clr>
            <a:srgbClr val="747775"/>
          </p15:clr>
        </p15:guide>
        <p15:guide id="2" pos="2880">
          <p15:clr>
            <a:srgbClr val="747775"/>
          </p15:clr>
        </p15:guide>
        <p15:guide id="3" pos="424">
          <p15:clr>
            <a:srgbClr val="747775"/>
          </p15:clr>
        </p15:guide>
        <p15:guide id="4" orient="horz" pos="454">
          <p15:clr>
            <a:srgbClr val="747775"/>
          </p15:clr>
        </p15:guide>
        <p15:guide id="5" orient="horz" pos="2786">
          <p15:clr>
            <a:srgbClr val="747775"/>
          </p15:clr>
        </p15:guide>
        <p15:guide id="6" pos="1247">
          <p15:clr>
            <a:srgbClr val="747775"/>
          </p15:clr>
        </p15:guide>
        <p15:guide id="7" pos="2064">
          <p15:clr>
            <a:srgbClr val="747775"/>
          </p15:clr>
        </p15:guide>
        <p15:guide id="8" pos="3685">
          <p15:clr>
            <a:srgbClr val="747775"/>
          </p15:clr>
        </p15:guide>
        <p15:guide id="9" pos="4555">
          <p15:clr>
            <a:srgbClr val="747775"/>
          </p15:clr>
        </p15:guide>
        <p15:guide id="10" orient="horz" pos="844">
          <p15:clr>
            <a:srgbClr val="747775"/>
          </p15:clr>
        </p15:guide>
        <p15:guide id="11" orient="horz" pos="2005">
          <p15:clr>
            <a:srgbClr val="747775"/>
          </p15:clr>
        </p15:guide>
        <p15:guide id="12" orient="horz" pos="2390">
          <p15:clr>
            <a:srgbClr val="747775"/>
          </p15:clr>
        </p15:guide>
        <p15:guide id="13" pos="5306">
          <p15:clr>
            <a:srgbClr val="747775"/>
          </p15:clr>
        </p15:guide>
        <p15:guide id="14" orient="horz" pos="1235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jIB+2iUhPWGjX0AWTMrn4i3SMV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Светлый стиль 3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72" autoAdjust="0"/>
    <p:restoredTop sz="94660"/>
  </p:normalViewPr>
  <p:slideViewPr>
    <p:cSldViewPr snapToGrid="0">
      <p:cViewPr varScale="1">
        <p:scale>
          <a:sx n="62" d="100"/>
          <a:sy n="62" d="100"/>
        </p:scale>
        <p:origin x="34" y="677"/>
      </p:cViewPr>
      <p:guideLst>
        <p:guide orient="horz" pos="1614"/>
        <p:guide pos="2880"/>
        <p:guide pos="424"/>
        <p:guide orient="horz" pos="454"/>
        <p:guide orient="horz" pos="2786"/>
        <p:guide pos="1247"/>
        <p:guide pos="2064"/>
        <p:guide pos="3685"/>
        <p:guide pos="4555"/>
        <p:guide orient="horz" pos="844"/>
        <p:guide orient="horz" pos="2005"/>
        <p:guide orient="horz" pos="2390"/>
        <p:guide pos="5306"/>
        <p:guide orient="horz" pos="12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926c71de0_0_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g30926c71de0_0_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0926c71de0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0926c71de0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6c71de0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g30926c71de0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2351DDD7-20D1-2181-E737-56326706F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6c71de0_0_151:notes">
            <a:extLst>
              <a:ext uri="{FF2B5EF4-FFF2-40B4-BE49-F238E27FC236}">
                <a16:creationId xmlns:a16="http://schemas.microsoft.com/office/drawing/2014/main" id="{6AEA8820-EA2F-314C-2959-BCA9E06BD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g30926c71de0_0_151:notes">
            <a:extLst>
              <a:ext uri="{FF2B5EF4-FFF2-40B4-BE49-F238E27FC236}">
                <a16:creationId xmlns:a16="http://schemas.microsoft.com/office/drawing/2014/main" id="{667711D6-F37C-0C1C-0EA3-7BFF37AA79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0482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BAD64A6-D7E0-D873-3604-E8C69B84E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926c71de0_0_194:notes">
            <a:extLst>
              <a:ext uri="{FF2B5EF4-FFF2-40B4-BE49-F238E27FC236}">
                <a16:creationId xmlns:a16="http://schemas.microsoft.com/office/drawing/2014/main" id="{B2BD9FDA-2ED2-4308-3E91-909B80CDC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0926c71de0_0_194:notes">
            <a:extLst>
              <a:ext uri="{FF2B5EF4-FFF2-40B4-BE49-F238E27FC236}">
                <a16:creationId xmlns:a16="http://schemas.microsoft.com/office/drawing/2014/main" id="{95FBDB1E-07E6-281F-AF86-4E1C2B20E9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55521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B5E05FD7-9FB9-8938-625D-FC18D5D53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926c71de0_0_194:notes">
            <a:extLst>
              <a:ext uri="{FF2B5EF4-FFF2-40B4-BE49-F238E27FC236}">
                <a16:creationId xmlns:a16="http://schemas.microsoft.com/office/drawing/2014/main" id="{2F67DD5F-6F2B-962F-81C1-AE96E05488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0926c71de0_0_194:notes">
            <a:extLst>
              <a:ext uri="{FF2B5EF4-FFF2-40B4-BE49-F238E27FC236}">
                <a16:creationId xmlns:a16="http://schemas.microsoft.com/office/drawing/2014/main" id="{B1B8CA14-837B-AE9D-AE10-91DE12BABB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9510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6B1359C2-A7E5-F19B-F8FD-1B0BFFB4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926c71de0_0_194:notes">
            <a:extLst>
              <a:ext uri="{FF2B5EF4-FFF2-40B4-BE49-F238E27FC236}">
                <a16:creationId xmlns:a16="http://schemas.microsoft.com/office/drawing/2014/main" id="{C6775598-4CAE-A154-9335-ED77B6CBB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0926c71de0_0_194:notes">
            <a:extLst>
              <a:ext uri="{FF2B5EF4-FFF2-40B4-BE49-F238E27FC236}">
                <a16:creationId xmlns:a16="http://schemas.microsoft.com/office/drawing/2014/main" id="{2F9855E1-E254-E4E0-9450-CD88FEC5F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170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A3BB111-BD89-56A1-8EB7-352865A4D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926c71de0_0_194:notes">
            <a:extLst>
              <a:ext uri="{FF2B5EF4-FFF2-40B4-BE49-F238E27FC236}">
                <a16:creationId xmlns:a16="http://schemas.microsoft.com/office/drawing/2014/main" id="{202C9777-2427-040A-54C8-478491E811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0926c71de0_0_194:notes">
            <a:extLst>
              <a:ext uri="{FF2B5EF4-FFF2-40B4-BE49-F238E27FC236}">
                <a16:creationId xmlns:a16="http://schemas.microsoft.com/office/drawing/2014/main" id="{6BBB7B00-9A29-151B-5D5D-6A8DDF34AF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65672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198425E5-D05F-FEE3-450D-74F5B395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926c71de0_0_194:notes">
            <a:extLst>
              <a:ext uri="{FF2B5EF4-FFF2-40B4-BE49-F238E27FC236}">
                <a16:creationId xmlns:a16="http://schemas.microsoft.com/office/drawing/2014/main" id="{004E4AE7-2515-C64C-784A-91456F1996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0926c71de0_0_194:notes">
            <a:extLst>
              <a:ext uri="{FF2B5EF4-FFF2-40B4-BE49-F238E27FC236}">
                <a16:creationId xmlns:a16="http://schemas.microsoft.com/office/drawing/2014/main" id="{4465CC08-7F37-FA67-AF60-CE5702A8F4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0866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83A359D0-5F8F-FD03-5491-F9EA5531D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926c71de0_0_194:notes">
            <a:extLst>
              <a:ext uri="{FF2B5EF4-FFF2-40B4-BE49-F238E27FC236}">
                <a16:creationId xmlns:a16="http://schemas.microsoft.com/office/drawing/2014/main" id="{37453C7B-94D9-53B9-16B0-0CDE50BEF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0926c71de0_0_194:notes">
            <a:extLst>
              <a:ext uri="{FF2B5EF4-FFF2-40B4-BE49-F238E27FC236}">
                <a16:creationId xmlns:a16="http://schemas.microsoft.com/office/drawing/2014/main" id="{1A9C847F-389A-58C1-5818-936B3EDF18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43744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D14DAFA0-E878-A0F2-AE87-DB4FC30ED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0926c71de0_0_159:notes">
            <a:extLst>
              <a:ext uri="{FF2B5EF4-FFF2-40B4-BE49-F238E27FC236}">
                <a16:creationId xmlns:a16="http://schemas.microsoft.com/office/drawing/2014/main" id="{C7835F0A-392D-7959-BBA5-6EBC13714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g30926c71de0_0_159:notes">
            <a:extLst>
              <a:ext uri="{FF2B5EF4-FFF2-40B4-BE49-F238E27FC236}">
                <a16:creationId xmlns:a16="http://schemas.microsoft.com/office/drawing/2014/main" id="{E350AEA3-854F-F3CE-C831-7C1C768B2D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8205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C6621784-D937-4BC3-B71E-88951E14B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0926c71de0_0_194:notes">
            <a:extLst>
              <a:ext uri="{FF2B5EF4-FFF2-40B4-BE49-F238E27FC236}">
                <a16:creationId xmlns:a16="http://schemas.microsoft.com/office/drawing/2014/main" id="{741F82C2-17C8-0CC2-A838-2A21547879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30926c71de0_0_194:notes">
            <a:extLst>
              <a:ext uri="{FF2B5EF4-FFF2-40B4-BE49-F238E27FC236}">
                <a16:creationId xmlns:a16="http://schemas.microsoft.com/office/drawing/2014/main" id="{066473AA-C857-12C5-A7B5-9A7B41114C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6192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1" type="obj">
  <p:cSld name="OBJEC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82d316f19_0_72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g3082d316f19_0_72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g3082d316f19_0_72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0926c71de0_0_142"/>
          <p:cNvSpPr txBox="1"/>
          <p:nvPr/>
        </p:nvSpPr>
        <p:spPr>
          <a:xfrm>
            <a:off x="902604" y="1427218"/>
            <a:ext cx="7338792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ru-RU" sz="28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Моделировани</a:t>
            </a:r>
            <a:r>
              <a:rPr lang="ru-RU" sz="2800" b="1" dirty="0">
                <a:latin typeface="Montserrat"/>
                <a:ea typeface="Montserrat"/>
                <a:cs typeface="Montserrat"/>
                <a:sym typeface="Montserrat"/>
              </a:rPr>
              <a:t>е и анализ городской транспортной сети с учетом временных характеристик и пассажиропотока</a:t>
            </a:r>
            <a:endParaRPr sz="1100" b="1" i="0" u="none" strike="noStrike" cap="none" dirty="0">
              <a:solidFill>
                <a:schemeClr val="lt1"/>
              </a:solidFill>
              <a:highlight>
                <a:srgbClr val="F1860D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g30926c71de0_0_1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g30926c71de0_0_1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700000">
            <a:off x="-233144" y="3718411"/>
            <a:ext cx="3466286" cy="2154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98;g30926c71de0_0_194">
            <a:extLst>
              <a:ext uri="{FF2B5EF4-FFF2-40B4-BE49-F238E27FC236}">
                <a16:creationId xmlns:a16="http://schemas.microsoft.com/office/drawing/2014/main" id="{852E9C7E-F36A-83FA-F004-F0601264AC0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1617" y="-1052091"/>
            <a:ext cx="3342230" cy="2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8;g30926c71de0_0_159">
            <a:extLst>
              <a:ext uri="{FF2B5EF4-FFF2-40B4-BE49-F238E27FC236}">
                <a16:creationId xmlns:a16="http://schemas.microsoft.com/office/drawing/2014/main" id="{818FD66E-80F1-B887-1C55-73CF9B70CE4C}"/>
              </a:ext>
            </a:extLst>
          </p:cNvPr>
          <p:cNvSpPr/>
          <p:nvPr/>
        </p:nvSpPr>
        <p:spPr>
          <a:xfrm>
            <a:off x="4460789" y="3725234"/>
            <a:ext cx="4201297" cy="1093901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Выполнили: Ахмадеева Диана, </a:t>
            </a:r>
            <a:r>
              <a:rPr lang="ru-RU" sz="1800" b="0" i="0" u="none" strike="noStrike" cap="none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Лёшкина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Алёна.</a:t>
            </a:r>
            <a:endParaRPr sz="18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0926c71de0_0_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7684" y="918362"/>
            <a:ext cx="40727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0926c71de0_0_1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1274" y="275232"/>
            <a:ext cx="5139160" cy="69594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0926c71de0_0_159"/>
          <p:cNvSpPr/>
          <p:nvPr/>
        </p:nvSpPr>
        <p:spPr>
          <a:xfrm>
            <a:off x="407179" y="918362"/>
            <a:ext cx="8378473" cy="96236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Симулятор городской транспортной среды – программа, которая</a:t>
            </a:r>
            <a:r>
              <a:rPr lang="ru-RU" sz="24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24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моделирует работу автобусов и трамваев  в течение полных суток. </a:t>
            </a:r>
            <a:endParaRPr sz="24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4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4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4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24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9" name="Google Shape;79;g30926c71de0_0_159"/>
          <p:cNvSpPr txBox="1"/>
          <p:nvPr/>
        </p:nvSpPr>
        <p:spPr>
          <a:xfrm>
            <a:off x="2186554" y="353802"/>
            <a:ext cx="4968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 чем проект? </a:t>
            </a:r>
            <a:endParaRPr sz="2900" b="1" i="0" u="none" strike="noStrike" cap="none" dirty="0">
              <a:solidFill>
                <a:schemeClr val="tx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81" name="Google Shape;81;g30926c71de0_0_1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752" y="3227864"/>
            <a:ext cx="162047" cy="171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g30926c71de0_0_1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3978" y="3644516"/>
            <a:ext cx="162047" cy="171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0926c71de0_0_1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7752" y="4306428"/>
            <a:ext cx="162047" cy="1713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8;g30926c71de0_0_159">
            <a:extLst>
              <a:ext uri="{FF2B5EF4-FFF2-40B4-BE49-F238E27FC236}">
                <a16:creationId xmlns:a16="http://schemas.microsoft.com/office/drawing/2014/main" id="{3D485C4B-8389-326C-648B-75282C145850}"/>
              </a:ext>
            </a:extLst>
          </p:cNvPr>
          <p:cNvSpPr/>
          <p:nvPr/>
        </p:nvSpPr>
        <p:spPr>
          <a:xfrm>
            <a:off x="891664" y="2669848"/>
            <a:ext cx="7558380" cy="7898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Общественные средства передвижения разных типов;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Остановки как узлы транспортной сети;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Пассажиров с индивидуальными целями поездок;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Время суток и замедление в часы пик.</a:t>
            </a:r>
            <a:endParaRPr sz="24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" name="Google Shape;78;g30926c71de0_0_159">
            <a:extLst>
              <a:ext uri="{FF2B5EF4-FFF2-40B4-BE49-F238E27FC236}">
                <a16:creationId xmlns:a16="http://schemas.microsoft.com/office/drawing/2014/main" id="{554B9F06-09B6-ADD6-8A4D-A8773458813C}"/>
              </a:ext>
            </a:extLst>
          </p:cNvPr>
          <p:cNvSpPr/>
          <p:nvPr/>
        </p:nvSpPr>
        <p:spPr>
          <a:xfrm>
            <a:off x="891664" y="2188663"/>
            <a:ext cx="8378473" cy="962369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Симуляция учитывает:</a:t>
            </a:r>
            <a:endParaRPr sz="24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" name="Google Shape;81;g30926c71de0_0_159">
            <a:extLst>
              <a:ext uri="{FF2B5EF4-FFF2-40B4-BE49-F238E27FC236}">
                <a16:creationId xmlns:a16="http://schemas.microsoft.com/office/drawing/2014/main" id="{003A9577-26BD-7207-E1A1-1C6C81162B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3978" y="2893402"/>
            <a:ext cx="162047" cy="171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0926c71de0_0_151"/>
          <p:cNvSpPr txBox="1">
            <a:spLocks noGrp="1"/>
          </p:cNvSpPr>
          <p:nvPr>
            <p:ph type="ctrTitle"/>
          </p:nvPr>
        </p:nvSpPr>
        <p:spPr>
          <a:xfrm>
            <a:off x="311700" y="-515716"/>
            <a:ext cx="8520600" cy="1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-RU" sz="32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Актуальность </a:t>
            </a:r>
            <a:endParaRPr sz="3600" b="1" dirty="0"/>
          </a:p>
        </p:txBody>
      </p:sp>
      <p:pic>
        <p:nvPicPr>
          <p:cNvPr id="68" name="Google Shape;68;g30926c71de0_0_1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6186616" y="3962400"/>
            <a:ext cx="40386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0926c71de0_0_1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19275" y="-1242075"/>
            <a:ext cx="4355250" cy="2397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9;g30926c71de0_0_159">
            <a:extLst>
              <a:ext uri="{FF2B5EF4-FFF2-40B4-BE49-F238E27FC236}">
                <a16:creationId xmlns:a16="http://schemas.microsoft.com/office/drawing/2014/main" id="{B5A68511-E6E7-02B5-3538-82838C0DCC86}"/>
              </a:ext>
            </a:extLst>
          </p:cNvPr>
          <p:cNvSpPr txBox="1"/>
          <p:nvPr/>
        </p:nvSpPr>
        <p:spPr>
          <a:xfrm>
            <a:off x="-75325" y="1134690"/>
            <a:ext cx="4968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Почему это важно?</a:t>
            </a:r>
            <a:endParaRPr sz="2900" b="1" i="0" u="none" strike="noStrike" cap="none" dirty="0">
              <a:solidFill>
                <a:schemeClr val="tx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" name="Google Shape;78;g30926c71de0_0_159">
            <a:extLst>
              <a:ext uri="{FF2B5EF4-FFF2-40B4-BE49-F238E27FC236}">
                <a16:creationId xmlns:a16="http://schemas.microsoft.com/office/drawing/2014/main" id="{96420635-3910-7BC9-BE17-F694AE3BF1E3}"/>
              </a:ext>
            </a:extLst>
          </p:cNvPr>
          <p:cNvSpPr/>
          <p:nvPr/>
        </p:nvSpPr>
        <p:spPr>
          <a:xfrm>
            <a:off x="37182" y="1458845"/>
            <a:ext cx="5758137" cy="3140094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defTabSz="21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1) Рост нагрузки - городские транспортные сети становятся сложнее и интенсивнее.</a:t>
            </a:r>
          </a:p>
          <a:p>
            <a:pPr marL="0" marR="0" lvl="0" indent="0" defTabSz="21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2) Прогнозирование - необходимо заранее предсказывать нагрузку на маршруты, чтобы избежать сбоев.</a:t>
            </a:r>
          </a:p>
          <a:p>
            <a:pPr marL="0" marR="0" lvl="0" indent="0" defTabSz="21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3)Оптимизация - анализ пассажиропотока снижает затраты и повышает эффективность.</a:t>
            </a:r>
            <a:endParaRPr sz="20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" name="Google Shape;79;g30926c71de0_0_159">
            <a:extLst>
              <a:ext uri="{FF2B5EF4-FFF2-40B4-BE49-F238E27FC236}">
                <a16:creationId xmlns:a16="http://schemas.microsoft.com/office/drawing/2014/main" id="{9B631DF2-BCD5-D180-4066-1496B369D17A}"/>
              </a:ext>
            </a:extLst>
          </p:cNvPr>
          <p:cNvSpPr txBox="1"/>
          <p:nvPr/>
        </p:nvSpPr>
        <p:spPr>
          <a:xfrm>
            <a:off x="5340211" y="1466854"/>
            <a:ext cx="3779623" cy="626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chemeClr val="dk1"/>
              </a:buClr>
              <a:buSzPts val="2900"/>
            </a:pPr>
            <a:r>
              <a:rPr lang="ru-RU" sz="2400" b="1" i="0" u="none" strike="noStrike" cap="none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Наше реш</a:t>
            </a:r>
            <a:r>
              <a:rPr lang="ru-RU" sz="2400" b="1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ение:</a:t>
            </a:r>
            <a:endParaRPr sz="2400" b="1" i="0" u="none" strike="noStrike" cap="none" dirty="0">
              <a:solidFill>
                <a:schemeClr val="tx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" name="Google Shape;78;g30926c71de0_0_159">
            <a:extLst>
              <a:ext uri="{FF2B5EF4-FFF2-40B4-BE49-F238E27FC236}">
                <a16:creationId xmlns:a16="http://schemas.microsoft.com/office/drawing/2014/main" id="{AD9E99D1-21BE-CE7D-2C25-2B17E70FA01C}"/>
              </a:ext>
            </a:extLst>
          </p:cNvPr>
          <p:cNvSpPr/>
          <p:nvPr/>
        </p:nvSpPr>
        <p:spPr>
          <a:xfrm>
            <a:off x="5353229" y="1821900"/>
            <a:ext cx="3753589" cy="2140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buClr>
                <a:schemeClr val="dk1"/>
              </a:buClr>
              <a:buSzPts val="2200"/>
            </a:pPr>
            <a:r>
              <a:rPr lang="ru-RU" sz="2000" i="1" dirty="0"/>
              <a:t>Программа-симулятор, которая моделирует все процессы перевозок и выдаёт готовую аналитику для принятия решений по оптимизации маршрутов.</a:t>
            </a:r>
            <a:endParaRPr sz="2800" i="1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87CABF4C-BC54-C91A-2ECD-E61DC1F4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0926c71de0_0_151">
            <a:extLst>
              <a:ext uri="{FF2B5EF4-FFF2-40B4-BE49-F238E27FC236}">
                <a16:creationId xmlns:a16="http://schemas.microsoft.com/office/drawing/2014/main" id="{541BC244-0806-9534-0587-EC2FE1C9FBE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-515716"/>
            <a:ext cx="8520600" cy="15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-RU" sz="32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Кому будет полезен наш проект? </a:t>
            </a:r>
            <a:endParaRPr sz="3600" b="1" dirty="0"/>
          </a:p>
        </p:txBody>
      </p:sp>
      <p:pic>
        <p:nvPicPr>
          <p:cNvPr id="68" name="Google Shape;68;g30926c71de0_0_151">
            <a:extLst>
              <a:ext uri="{FF2B5EF4-FFF2-40B4-BE49-F238E27FC236}">
                <a16:creationId xmlns:a16="http://schemas.microsoft.com/office/drawing/2014/main" id="{10420F20-1B66-C0C2-1E93-FD8E5DE0DB6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6186616" y="3962400"/>
            <a:ext cx="40386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g30926c71de0_0_151">
            <a:extLst>
              <a:ext uri="{FF2B5EF4-FFF2-40B4-BE49-F238E27FC236}">
                <a16:creationId xmlns:a16="http://schemas.microsoft.com/office/drawing/2014/main" id="{04036F5F-4661-95A3-511B-9CBE07153F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219275" y="-1242075"/>
            <a:ext cx="4355250" cy="23970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78;g30926c71de0_0_159">
            <a:extLst>
              <a:ext uri="{FF2B5EF4-FFF2-40B4-BE49-F238E27FC236}">
                <a16:creationId xmlns:a16="http://schemas.microsoft.com/office/drawing/2014/main" id="{54E5B00B-033C-6806-874B-EE07C75AE2E1}"/>
              </a:ext>
            </a:extLst>
          </p:cNvPr>
          <p:cNvSpPr/>
          <p:nvPr/>
        </p:nvSpPr>
        <p:spPr>
          <a:xfrm>
            <a:off x="4168772" y="2571750"/>
            <a:ext cx="5196861" cy="257175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3" defTabSz="216000">
              <a:buClr>
                <a:schemeClr val="dk1"/>
              </a:buClr>
              <a:buSzPts val="2200"/>
            </a:pP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ru-RU" sz="20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Студентам:</a:t>
            </a:r>
          </a:p>
          <a:p>
            <a:pPr marL="342900" lvl="3" indent="-342900" defTabSz="216000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Изучение </a:t>
            </a:r>
            <a:r>
              <a:rPr lang="ru-RU" sz="2000" dirty="0" err="1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графовых</a:t>
            </a: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алгоритмов на практике</a:t>
            </a:r>
          </a:p>
          <a:p>
            <a:pPr marL="342900" lvl="3" indent="-342900" defTabSz="216000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Понимание принципов транспортного моделирования</a:t>
            </a:r>
          </a:p>
          <a:p>
            <a:pPr marL="342900" lvl="3" indent="-342900" defTabSz="216000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(По-хорошему): понимание ООП-архитектуры</a:t>
            </a:r>
          </a:p>
        </p:txBody>
      </p:sp>
      <p:sp>
        <p:nvSpPr>
          <p:cNvPr id="6" name="Google Shape;78;g30926c71de0_0_159">
            <a:extLst>
              <a:ext uri="{FF2B5EF4-FFF2-40B4-BE49-F238E27FC236}">
                <a16:creationId xmlns:a16="http://schemas.microsoft.com/office/drawing/2014/main" id="{A228438F-42B8-0ECB-F6EF-5A27E4E966E2}"/>
              </a:ext>
            </a:extLst>
          </p:cNvPr>
          <p:cNvSpPr/>
          <p:nvPr/>
        </p:nvSpPr>
        <p:spPr>
          <a:xfrm>
            <a:off x="216750" y="781736"/>
            <a:ext cx="4355250" cy="3085929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3" defTabSz="216000">
              <a:buClr>
                <a:schemeClr val="dk1"/>
              </a:buClr>
              <a:buSzPts val="2200"/>
            </a:pPr>
            <a:r>
              <a:rPr lang="ru-RU" sz="20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Транспортным компаниям: </a:t>
            </a:r>
          </a:p>
          <a:p>
            <a:pPr marL="342900" lvl="3" indent="-342900" defTabSz="216000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Анализ загруженности маршрутов в разное время</a:t>
            </a:r>
          </a:p>
          <a:p>
            <a:pPr marL="342900" lvl="3" indent="-342900" defTabSz="216000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Оптимизация количества транспорта на линии</a:t>
            </a:r>
          </a:p>
          <a:p>
            <a:pPr marL="342900" lvl="3" indent="-342900" defTabSz="216000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Планирование новых маршрутов</a:t>
            </a:r>
          </a:p>
        </p:txBody>
      </p:sp>
      <p:sp>
        <p:nvSpPr>
          <p:cNvPr id="7" name="Google Shape;78;g30926c71de0_0_159">
            <a:extLst>
              <a:ext uri="{FF2B5EF4-FFF2-40B4-BE49-F238E27FC236}">
                <a16:creationId xmlns:a16="http://schemas.microsoft.com/office/drawing/2014/main" id="{70AEE6F8-F3AA-F896-0F0B-12BA836C992C}"/>
              </a:ext>
            </a:extLst>
          </p:cNvPr>
          <p:cNvSpPr/>
          <p:nvPr/>
        </p:nvSpPr>
        <p:spPr>
          <a:xfrm>
            <a:off x="4263081" y="781736"/>
            <a:ext cx="5008245" cy="274822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3" defTabSz="216000">
              <a:buClr>
                <a:schemeClr val="dk1"/>
              </a:buClr>
              <a:buSzPts val="2200"/>
            </a:pPr>
            <a:r>
              <a:rPr lang="ru-RU" sz="2000" b="1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Городским администрациям:</a:t>
            </a:r>
          </a:p>
          <a:p>
            <a:pPr marL="342900" lvl="3" indent="-342900" defTabSz="216000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Оценка необходимости новых маршрутов</a:t>
            </a:r>
          </a:p>
          <a:p>
            <a:pPr marL="342900" lvl="3" indent="-342900" defTabSz="216000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Анализ дублирования путей</a:t>
            </a:r>
          </a:p>
          <a:p>
            <a:pPr marL="342900" lvl="3" indent="-342900" defTabSz="216000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Прогнозирование нагрузки</a:t>
            </a:r>
          </a:p>
        </p:txBody>
      </p:sp>
    </p:spTree>
    <p:extLst>
      <p:ext uri="{BB962C8B-B14F-4D97-AF65-F5344CB8AC3E}">
        <p14:creationId xmlns:p14="http://schemas.microsoft.com/office/powerpoint/2010/main" val="3610058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73EF9EFF-D631-E7ED-52B4-355F22E90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0926c71de0_0_194">
            <a:extLst>
              <a:ext uri="{FF2B5EF4-FFF2-40B4-BE49-F238E27FC236}">
                <a16:creationId xmlns:a16="http://schemas.microsoft.com/office/drawing/2014/main" id="{6A692BFD-DB00-EC01-A13F-3860D56667F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9041" y="-1656525"/>
            <a:ext cx="3342230" cy="2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0926c71de0_0_194">
            <a:extLst>
              <a:ext uri="{FF2B5EF4-FFF2-40B4-BE49-F238E27FC236}">
                <a16:creationId xmlns:a16="http://schemas.microsoft.com/office/drawing/2014/main" id="{69F909DB-EF15-D6EA-FB07-409C8B3F1369}"/>
              </a:ext>
            </a:extLst>
          </p:cNvPr>
          <p:cNvSpPr txBox="1"/>
          <p:nvPr/>
        </p:nvSpPr>
        <p:spPr>
          <a:xfrm>
            <a:off x="134700" y="171738"/>
            <a:ext cx="8874600" cy="63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проекта: несколько графов</a:t>
            </a:r>
            <a:endParaRPr sz="29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45F888-E427-53BF-5570-2636B3726B78}"/>
              </a:ext>
            </a:extLst>
          </p:cNvPr>
          <p:cNvSpPr txBox="1"/>
          <p:nvPr/>
        </p:nvSpPr>
        <p:spPr>
          <a:xfrm>
            <a:off x="5090984" y="988542"/>
            <a:ext cx="368540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latin typeface="Montserrat Medium" panose="00000600000000000000" pitchFamily="2" charset="-52"/>
              </a:rPr>
              <a:t>Отдельные графы для каждого вида транспорта и общая карта сети.</a:t>
            </a:r>
            <a:endParaRPr lang="en-US" sz="2000" dirty="0">
              <a:latin typeface="Montserrat Medium" panose="00000600000000000000" pitchFamily="2" charset="-52"/>
            </a:endParaRPr>
          </a:p>
          <a:p>
            <a:pPr algn="r"/>
            <a:endParaRPr lang="en-US" sz="2000" dirty="0">
              <a:latin typeface="Montserrat Medium" panose="00000600000000000000" pitchFamily="2" charset="-52"/>
            </a:endParaRPr>
          </a:p>
          <a:p>
            <a:pPr algn="r"/>
            <a:r>
              <a:rPr lang="ru-RU" sz="2000" dirty="0">
                <a:latin typeface="Montserrat Medium" panose="00000600000000000000" pitchFamily="2" charset="-52"/>
              </a:rPr>
              <a:t>Можно анализировать маршруты как отдельно, так и вместе.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4A183002-CE84-27A4-90F4-C9F5C623F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90" y="800110"/>
            <a:ext cx="4620852" cy="409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838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C59C95A-79AE-B8EE-E75C-00526798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0926c71de0_0_194">
            <a:extLst>
              <a:ext uri="{FF2B5EF4-FFF2-40B4-BE49-F238E27FC236}">
                <a16:creationId xmlns:a16="http://schemas.microsoft.com/office/drawing/2014/main" id="{E44B0F66-8280-0168-C71A-F26536633B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9041" y="-1656525"/>
            <a:ext cx="3342230" cy="2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0926c71de0_0_194">
            <a:extLst>
              <a:ext uri="{FF2B5EF4-FFF2-40B4-BE49-F238E27FC236}">
                <a16:creationId xmlns:a16="http://schemas.microsoft.com/office/drawing/2014/main" id="{CB8437BC-7424-1861-6F6F-1D4D41399AFE}"/>
              </a:ext>
            </a:extLst>
          </p:cNvPr>
          <p:cNvSpPr txBox="1"/>
          <p:nvPr/>
        </p:nvSpPr>
        <p:spPr>
          <a:xfrm>
            <a:off x="326040" y="211599"/>
            <a:ext cx="8874600" cy="63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проекта: несколько графов</a:t>
            </a:r>
            <a:endParaRPr sz="29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C2E974-C3B0-DFA2-E601-D0227D273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045" y="1314884"/>
            <a:ext cx="2664183" cy="302387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82736C-D3F9-55C0-91C5-88B1DE185E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504" y="1569957"/>
            <a:ext cx="4850213" cy="25137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9C1822-F6E6-E33A-73B9-19BB7072CF72}"/>
              </a:ext>
            </a:extLst>
          </p:cNvPr>
          <p:cNvSpPr txBox="1"/>
          <p:nvPr/>
        </p:nvSpPr>
        <p:spPr>
          <a:xfrm>
            <a:off x="326039" y="898456"/>
            <a:ext cx="8033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Montserrat Medium" panose="00000600000000000000" pitchFamily="2" charset="-52"/>
              </a:rPr>
              <a:t>Отдельные графы для маршрутов автобусов и трамваев:</a:t>
            </a:r>
          </a:p>
        </p:txBody>
      </p:sp>
    </p:spTree>
    <p:extLst>
      <p:ext uri="{BB962C8B-B14F-4D97-AF65-F5344CB8AC3E}">
        <p14:creationId xmlns:p14="http://schemas.microsoft.com/office/powerpoint/2010/main" val="673636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E6351EB4-05B9-57D8-64B1-BB1D0887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0926c71de0_0_194">
            <a:extLst>
              <a:ext uri="{FF2B5EF4-FFF2-40B4-BE49-F238E27FC236}">
                <a16:creationId xmlns:a16="http://schemas.microsoft.com/office/drawing/2014/main" id="{10EEF26B-D162-EAC1-4C8C-7E8CCDEAC3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9041" y="-1656525"/>
            <a:ext cx="3342230" cy="2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0926c71de0_0_194">
            <a:extLst>
              <a:ext uri="{FF2B5EF4-FFF2-40B4-BE49-F238E27FC236}">
                <a16:creationId xmlns:a16="http://schemas.microsoft.com/office/drawing/2014/main" id="{D1AD498C-5807-4CD1-A59A-F05678EC9CDA}"/>
              </a:ext>
            </a:extLst>
          </p:cNvPr>
          <p:cNvSpPr txBox="1"/>
          <p:nvPr/>
        </p:nvSpPr>
        <p:spPr>
          <a:xfrm>
            <a:off x="134699" y="157355"/>
            <a:ext cx="8874600" cy="63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проекта: часы пик и пробки</a:t>
            </a:r>
            <a:endParaRPr sz="29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751B4B-7EAC-1ACC-7239-E0FD85C8576B}"/>
              </a:ext>
            </a:extLst>
          </p:cNvPr>
          <p:cNvSpPr txBox="1"/>
          <p:nvPr/>
        </p:nvSpPr>
        <p:spPr>
          <a:xfrm>
            <a:off x="555499" y="765426"/>
            <a:ext cx="80330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Коэффициент замедления 1.5 в утренние и вечерние часы</a:t>
            </a:r>
            <a:r>
              <a:rPr lang="ru-RU" sz="2000" dirty="0">
                <a:latin typeface="Montserrat Medium" panose="00000600000000000000" pitchFamily="2" charset="-52"/>
              </a:rPr>
              <a:t>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36187B-1469-3612-07CA-322B916ADB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9599" y="1178232"/>
            <a:ext cx="5927482" cy="380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75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A94CF112-AB69-B8AF-706C-F57E356B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0926c71de0_0_194">
            <a:extLst>
              <a:ext uri="{FF2B5EF4-FFF2-40B4-BE49-F238E27FC236}">
                <a16:creationId xmlns:a16="http://schemas.microsoft.com/office/drawing/2014/main" id="{D07AA451-6068-DE31-D468-F8880DA76E4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9041" y="-1656525"/>
            <a:ext cx="3342230" cy="2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0926c71de0_0_194">
            <a:extLst>
              <a:ext uri="{FF2B5EF4-FFF2-40B4-BE49-F238E27FC236}">
                <a16:creationId xmlns:a16="http://schemas.microsoft.com/office/drawing/2014/main" id="{4937DE9A-7005-F3DB-E01D-A372B606D3F2}"/>
              </a:ext>
            </a:extLst>
          </p:cNvPr>
          <p:cNvSpPr txBox="1"/>
          <p:nvPr/>
        </p:nvSpPr>
        <p:spPr>
          <a:xfrm>
            <a:off x="326040" y="211599"/>
            <a:ext cx="8874600" cy="63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проекта: разный формат</a:t>
            </a:r>
            <a:endParaRPr sz="29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CCBC4-3BFF-1956-01FD-C78DB2EFEA58}"/>
              </a:ext>
            </a:extLst>
          </p:cNvPr>
          <p:cNvSpPr txBox="1"/>
          <p:nvPr/>
        </p:nvSpPr>
        <p:spPr>
          <a:xfrm>
            <a:off x="326039" y="898456"/>
            <a:ext cx="84293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2000" dirty="0">
                <a:latin typeface="Montserrat Medium" panose="00000600000000000000" pitchFamily="2" charset="-52"/>
              </a:rPr>
              <a:t>Результаты симуляции сохраняются в </a:t>
            </a:r>
            <a:r>
              <a:rPr lang="en-US" sz="2000" dirty="0">
                <a:latin typeface="Montserrat Medium" panose="00000600000000000000" pitchFamily="2" charset="-52"/>
              </a:rPr>
              <a:t>TXT </a:t>
            </a:r>
            <a:r>
              <a:rPr lang="ru-RU" sz="2000" dirty="0">
                <a:latin typeface="Montserrat Medium" panose="00000600000000000000" pitchFamily="2" charset="-52"/>
              </a:rPr>
              <a:t>и </a:t>
            </a:r>
            <a:r>
              <a:rPr lang="en-US" sz="2000" dirty="0">
                <a:latin typeface="Montserrat Medium" panose="00000600000000000000" pitchFamily="2" charset="-52"/>
              </a:rPr>
              <a:t>CSV </a:t>
            </a:r>
            <a:r>
              <a:rPr lang="ru-RU" sz="2000" dirty="0">
                <a:latin typeface="Montserrat Medium" panose="00000600000000000000" pitchFamily="2" charset="-52"/>
              </a:rPr>
              <a:t>для анализа и построения графиков в </a:t>
            </a:r>
            <a:r>
              <a:rPr lang="en-US" sz="2000" dirty="0">
                <a:latin typeface="Montserrat Medium" panose="00000600000000000000" pitchFamily="2" charset="-52"/>
              </a:rPr>
              <a:t>Excel</a:t>
            </a:r>
            <a:endParaRPr lang="ru-RU" sz="2000" dirty="0">
              <a:latin typeface="Montserrat Medium" panose="00000600000000000000" pitchFamily="2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889F62-C41B-7CBE-66B4-AA1664B7F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039" y="1756507"/>
            <a:ext cx="6088908" cy="73158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408780-4EA3-43A9-1DDD-A3FA1424A9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0000"/>
          <a:stretch>
            <a:fillRect/>
          </a:stretch>
        </p:blipFill>
        <p:spPr>
          <a:xfrm>
            <a:off x="516208" y="2493289"/>
            <a:ext cx="3322608" cy="20728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68F261A-F2AD-BBD9-6B5D-68D9544FA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8985" y="2429492"/>
            <a:ext cx="4568537" cy="236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50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2C0E41E8-1B30-0FD8-AF2C-7BC35A55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0926c71de0_0_194">
            <a:extLst>
              <a:ext uri="{FF2B5EF4-FFF2-40B4-BE49-F238E27FC236}">
                <a16:creationId xmlns:a16="http://schemas.microsoft.com/office/drawing/2014/main" id="{6631AE14-44D6-FD13-826F-ACFB7640A9C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9041" y="-1656525"/>
            <a:ext cx="3342230" cy="2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0926c71de0_0_194">
            <a:extLst>
              <a:ext uri="{FF2B5EF4-FFF2-40B4-BE49-F238E27FC236}">
                <a16:creationId xmlns:a16="http://schemas.microsoft.com/office/drawing/2014/main" id="{66B964A9-7F10-D2EF-3B6E-FF68E58C9263}"/>
              </a:ext>
            </a:extLst>
          </p:cNvPr>
          <p:cNvSpPr txBox="1"/>
          <p:nvPr/>
        </p:nvSpPr>
        <p:spPr>
          <a:xfrm>
            <a:off x="326040" y="211599"/>
            <a:ext cx="8874600" cy="63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Сравнение с другими проектами:</a:t>
            </a:r>
            <a:endParaRPr sz="29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B5CF9C7-5992-6AA7-CA5D-857325D8E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55261"/>
              </p:ext>
            </p:extLst>
          </p:nvPr>
        </p:nvGraphicFramePr>
        <p:xfrm>
          <a:off x="345989" y="842511"/>
          <a:ext cx="8328454" cy="4358482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762852">
                  <a:extLst>
                    <a:ext uri="{9D8B030D-6E8A-4147-A177-3AD203B41FA5}">
                      <a16:colId xmlns:a16="http://schemas.microsoft.com/office/drawing/2014/main" val="3660491240"/>
                    </a:ext>
                  </a:extLst>
                </a:gridCol>
                <a:gridCol w="2782801">
                  <a:extLst>
                    <a:ext uri="{9D8B030D-6E8A-4147-A177-3AD203B41FA5}">
                      <a16:colId xmlns:a16="http://schemas.microsoft.com/office/drawing/2014/main" val="589142870"/>
                    </a:ext>
                  </a:extLst>
                </a:gridCol>
                <a:gridCol w="2782801">
                  <a:extLst>
                    <a:ext uri="{9D8B030D-6E8A-4147-A177-3AD203B41FA5}">
                      <a16:colId xmlns:a16="http://schemas.microsoft.com/office/drawing/2014/main" val="1547587531"/>
                    </a:ext>
                  </a:extLst>
                </a:gridCol>
              </a:tblGrid>
              <a:tr h="59953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Особенности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2ГИС/Яндекс Транспорт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Наш проект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352570"/>
                  </a:ext>
                </a:extLst>
              </a:tr>
              <a:tr h="968443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Моделирование времени суток</a:t>
                      </a:r>
                    </a:p>
                    <a:p>
                      <a:pPr algn="l"/>
                      <a:r>
                        <a:rPr lang="ru-RU" sz="1600" dirty="0"/>
                        <a:t>Невозможность анализировать трафик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Есть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959884"/>
                  </a:ext>
                </a:extLst>
              </a:tr>
              <a:tr h="542436">
                <a:tc>
                  <a:txBody>
                    <a:bodyPr/>
                    <a:lstStyle/>
                    <a:p>
                      <a:r>
                        <a:rPr lang="ru-RU" sz="1600" dirty="0"/>
                        <a:t>Экспорт данных для анализа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Есть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243230"/>
                  </a:ext>
                </a:extLst>
              </a:tr>
              <a:tr h="968443">
                <a:tc>
                  <a:txBody>
                    <a:bodyPr/>
                    <a:lstStyle/>
                    <a:p>
                      <a:r>
                        <a:rPr lang="ru-RU" sz="1600" dirty="0"/>
                        <a:t>Возможность моделирования Посмотреть загруженность остановки, загруженность </a:t>
                      </a:r>
                      <a:r>
                        <a:rPr lang="ru-RU" sz="1600" dirty="0" err="1"/>
                        <a:t>остновки,автобуса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Есть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202804"/>
                  </a:ext>
                </a:extLst>
              </a:tr>
              <a:tr h="761842">
                <a:tc>
                  <a:txBody>
                    <a:bodyPr/>
                    <a:lstStyle/>
                    <a:p>
                      <a:r>
                        <a:rPr lang="ru-RU" sz="1600" dirty="0"/>
                        <a:t>Сохранение в разные форматы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/>
                        <a:t>Нет</a:t>
                      </a:r>
                    </a:p>
                    <a:p>
                      <a:pPr algn="ctr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Есть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441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434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5B22440E-CB82-9E11-1C68-05020B33C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0926c71de0_0_194">
            <a:extLst>
              <a:ext uri="{FF2B5EF4-FFF2-40B4-BE49-F238E27FC236}">
                <a16:creationId xmlns:a16="http://schemas.microsoft.com/office/drawing/2014/main" id="{8D231509-FF05-9588-E31F-4FB29BF912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9041" y="-1656525"/>
            <a:ext cx="3342230" cy="2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0926c71de0_0_194">
            <a:extLst>
              <a:ext uri="{FF2B5EF4-FFF2-40B4-BE49-F238E27FC236}">
                <a16:creationId xmlns:a16="http://schemas.microsoft.com/office/drawing/2014/main" id="{81EC520C-0DA5-4F36-E2DB-CAB586284268}"/>
              </a:ext>
            </a:extLst>
          </p:cNvPr>
          <p:cNvSpPr txBox="1"/>
          <p:nvPr/>
        </p:nvSpPr>
        <p:spPr>
          <a:xfrm>
            <a:off x="326040" y="211599"/>
            <a:ext cx="8874600" cy="63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Сравнение с другими проектами:</a:t>
            </a:r>
            <a:endParaRPr sz="29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C01D1EA-BC26-9EBE-729E-C34E82CB0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591074"/>
              </p:ext>
            </p:extLst>
          </p:nvPr>
        </p:nvGraphicFramePr>
        <p:xfrm>
          <a:off x="345989" y="842511"/>
          <a:ext cx="8328454" cy="388124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762852">
                  <a:extLst>
                    <a:ext uri="{9D8B030D-6E8A-4147-A177-3AD203B41FA5}">
                      <a16:colId xmlns:a16="http://schemas.microsoft.com/office/drawing/2014/main" val="3660491240"/>
                    </a:ext>
                  </a:extLst>
                </a:gridCol>
                <a:gridCol w="2782801">
                  <a:extLst>
                    <a:ext uri="{9D8B030D-6E8A-4147-A177-3AD203B41FA5}">
                      <a16:colId xmlns:a16="http://schemas.microsoft.com/office/drawing/2014/main" val="589142870"/>
                    </a:ext>
                  </a:extLst>
                </a:gridCol>
                <a:gridCol w="2782801">
                  <a:extLst>
                    <a:ext uri="{9D8B030D-6E8A-4147-A177-3AD203B41FA5}">
                      <a16:colId xmlns:a16="http://schemas.microsoft.com/office/drawing/2014/main" val="1547587531"/>
                    </a:ext>
                  </a:extLst>
                </a:gridCol>
              </a:tblGrid>
              <a:tr h="599535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Особенности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2ГИС/Яндекс Транспорт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Наш проект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352570"/>
                  </a:ext>
                </a:extLst>
              </a:tr>
              <a:tr h="968443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Визуализация на карте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Есть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959884"/>
                  </a:ext>
                </a:extLst>
              </a:tr>
              <a:tr h="542436">
                <a:tc>
                  <a:txBody>
                    <a:bodyPr/>
                    <a:lstStyle/>
                    <a:p>
                      <a:r>
                        <a:rPr lang="ru-RU" sz="1600" dirty="0"/>
                        <a:t>Реальное время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Есть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243230"/>
                  </a:ext>
                </a:extLst>
              </a:tr>
              <a:tr h="968443">
                <a:tc>
                  <a:txBody>
                    <a:bodyPr/>
                    <a:lstStyle/>
                    <a:p>
                      <a:r>
                        <a:rPr lang="ru-RU" sz="1600" dirty="0"/>
                        <a:t>Мобильное приложения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Есть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202804"/>
                  </a:ext>
                </a:extLst>
              </a:tr>
              <a:tr h="761842">
                <a:tc>
                  <a:txBody>
                    <a:bodyPr/>
                    <a:lstStyle/>
                    <a:p>
                      <a:r>
                        <a:rPr lang="ru-RU" sz="1600" dirty="0"/>
                        <a:t>Закрытый 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dirty="0"/>
                        <a:t>Есть</a:t>
                      </a:r>
                    </a:p>
                    <a:p>
                      <a:pPr algn="ctr"/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Нет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441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40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1386FB50-7EC7-6FAC-6F84-5D6BE92AE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g30926c71de0_0_159">
            <a:extLst>
              <a:ext uri="{FF2B5EF4-FFF2-40B4-BE49-F238E27FC236}">
                <a16:creationId xmlns:a16="http://schemas.microsoft.com/office/drawing/2014/main" id="{86D21CA2-BABF-C16E-0CBF-D518CC4FFE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97684" y="918362"/>
            <a:ext cx="40727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0926c71de0_0_159">
            <a:extLst>
              <a:ext uri="{FF2B5EF4-FFF2-40B4-BE49-F238E27FC236}">
                <a16:creationId xmlns:a16="http://schemas.microsoft.com/office/drawing/2014/main" id="{0D34BE67-02AA-E826-5D23-B40844D7114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2420" y="289283"/>
            <a:ext cx="5139160" cy="87079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30926c71de0_0_159">
            <a:extLst>
              <a:ext uri="{FF2B5EF4-FFF2-40B4-BE49-F238E27FC236}">
                <a16:creationId xmlns:a16="http://schemas.microsoft.com/office/drawing/2014/main" id="{CC55E70E-F65B-0254-CB09-9CE903426831}"/>
              </a:ext>
            </a:extLst>
          </p:cNvPr>
          <p:cNvSpPr txBox="1"/>
          <p:nvPr/>
        </p:nvSpPr>
        <p:spPr>
          <a:xfrm>
            <a:off x="2087700" y="455278"/>
            <a:ext cx="4968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tx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Преимущества</a:t>
            </a:r>
            <a:endParaRPr sz="2900" b="1" i="0" u="none" strike="noStrike" cap="none" dirty="0">
              <a:solidFill>
                <a:schemeClr val="tx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81" name="Google Shape;81;g30926c71de0_0_159">
            <a:extLst>
              <a:ext uri="{FF2B5EF4-FFF2-40B4-BE49-F238E27FC236}">
                <a16:creationId xmlns:a16="http://schemas.microsoft.com/office/drawing/2014/main" id="{19FC9D8F-A609-B438-95D2-C161F8577AC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36" y="2302455"/>
            <a:ext cx="162047" cy="171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g30926c71de0_0_159">
            <a:extLst>
              <a:ext uri="{FF2B5EF4-FFF2-40B4-BE49-F238E27FC236}">
                <a16:creationId xmlns:a16="http://schemas.microsoft.com/office/drawing/2014/main" id="{57829CCB-5FE8-0E78-D1B8-9610D8B5C4A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3745" y="3008968"/>
            <a:ext cx="162047" cy="17139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78;g30926c71de0_0_159">
            <a:extLst>
              <a:ext uri="{FF2B5EF4-FFF2-40B4-BE49-F238E27FC236}">
                <a16:creationId xmlns:a16="http://schemas.microsoft.com/office/drawing/2014/main" id="{956F4838-121E-2953-82C8-EC6E7198CB39}"/>
              </a:ext>
            </a:extLst>
          </p:cNvPr>
          <p:cNvSpPr/>
          <p:nvPr/>
        </p:nvSpPr>
        <p:spPr>
          <a:xfrm>
            <a:off x="792810" y="1381361"/>
            <a:ext cx="7558380" cy="78989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b="0" i="0" u="none" strike="noStrike" cap="none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Моделирование движения транспорта по циклическим маршрутам 24 часа в сутки;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Генерация пассажиров в зависимости от времени суток; 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r>
              <a:rPr lang="ru-RU" sz="2400" dirty="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Сбор и анализ статистики с возможностью экспорта данных для дальнейшего анализа.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</a:pPr>
            <a:endParaRPr lang="ru-RU" sz="2400" dirty="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5" name="Google Shape;81;g30926c71de0_0_159">
            <a:extLst>
              <a:ext uri="{FF2B5EF4-FFF2-40B4-BE49-F238E27FC236}">
                <a16:creationId xmlns:a16="http://schemas.microsoft.com/office/drawing/2014/main" id="{559347E4-9CD2-81C9-6854-059D5D7B7A0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9971" y="1595942"/>
            <a:ext cx="162047" cy="171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3452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3A623A3F-C194-C413-7532-3EFAA1D1E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0926c71de0_0_194">
            <a:extLst>
              <a:ext uri="{FF2B5EF4-FFF2-40B4-BE49-F238E27FC236}">
                <a16:creationId xmlns:a16="http://schemas.microsoft.com/office/drawing/2014/main" id="{07FE2E89-8510-B37C-80F5-259670CE95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9041" y="-1656525"/>
            <a:ext cx="3342230" cy="237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0926c71de0_0_194">
            <a:extLst>
              <a:ext uri="{FF2B5EF4-FFF2-40B4-BE49-F238E27FC236}">
                <a16:creationId xmlns:a16="http://schemas.microsoft.com/office/drawing/2014/main" id="{0AE8F9C8-3E7F-BBDA-EBAE-EF8395474B42}"/>
              </a:ext>
            </a:extLst>
          </p:cNvPr>
          <p:cNvSpPr txBox="1"/>
          <p:nvPr/>
        </p:nvSpPr>
        <p:spPr>
          <a:xfrm>
            <a:off x="326040" y="211599"/>
            <a:ext cx="8874600" cy="63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900" b="1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Уникальность проекта: интерактивность</a:t>
            </a:r>
            <a:endParaRPr sz="2900" b="1" i="0" u="none" strike="noStrike" cap="none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C2A0B9-35FE-B8A7-AF56-77E3235DAA3E}"/>
              </a:ext>
            </a:extLst>
          </p:cNvPr>
          <p:cNvSpPr txBox="1"/>
          <p:nvPr/>
        </p:nvSpPr>
        <p:spPr>
          <a:xfrm>
            <a:off x="419030" y="864790"/>
            <a:ext cx="42459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Montserrat Medium" panose="00000600000000000000" pitchFamily="2" charset="-52"/>
              </a:rPr>
              <a:t>Пользователь может: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Montserrat Medium" panose="00000600000000000000" pitchFamily="2" charset="-52"/>
              </a:rPr>
              <a:t>проанализировать данные по типу транспорта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Montserrat Medium" panose="00000600000000000000" pitchFamily="2" charset="-52"/>
              </a:rPr>
              <a:t>остановиться на любом часе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Montserrat Medium" panose="00000600000000000000" pitchFamily="2" charset="-52"/>
              </a:rPr>
              <a:t>изучить статистику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E90695-B353-8E44-C8F8-FFCD1FB515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3773" t="4714" r="13773" b="25455"/>
          <a:stretch>
            <a:fillRect/>
          </a:stretch>
        </p:blipFill>
        <p:spPr>
          <a:xfrm>
            <a:off x="3436232" y="1661902"/>
            <a:ext cx="5288738" cy="317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5320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387</Words>
  <Application>Microsoft Office PowerPoint</Application>
  <PresentationFormat>Экран (16:9)</PresentationFormat>
  <Paragraphs>84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Montserrat SemiBold</vt:lpstr>
      <vt:lpstr>Montserrat ExtraBold</vt:lpstr>
      <vt:lpstr>Montserrat</vt:lpstr>
      <vt:lpstr>Montserrat Medium</vt:lpstr>
      <vt:lpstr>Arial</vt:lpstr>
      <vt:lpstr>Simple Light</vt:lpstr>
      <vt:lpstr>Презентация PowerPoint</vt:lpstr>
      <vt:lpstr>Презентация PowerPoint</vt:lpstr>
      <vt:lpstr>Актуальность </vt:lpstr>
      <vt:lpstr>Кому будет полезен наш проект?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Александра Мамаева</dc:creator>
  <cp:lastModifiedBy>Diana Akhmadeeva</cp:lastModifiedBy>
  <cp:revision>18</cp:revision>
  <dcterms:modified xsi:type="dcterms:W3CDTF">2026-05-19T17:56:01Z</dcterms:modified>
</cp:coreProperties>
</file>