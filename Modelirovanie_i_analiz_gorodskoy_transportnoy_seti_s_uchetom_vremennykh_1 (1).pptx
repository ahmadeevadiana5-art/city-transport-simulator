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76" r:id="rId5"/>
    <p:sldId id="277" r:id="rId6"/>
    <p:sldId id="273" r:id="rId7"/>
    <p:sldId id="271" r:id="rId8"/>
    <p:sldId id="266" r:id="rId9"/>
    <p:sldId id="268" r:id="rId10"/>
    <p:sldId id="264" r:id="rId11"/>
    <p:sldId id="272" r:id="rId12"/>
    <p:sldId id="263" r:id="rId13"/>
    <p:sldId id="274" r:id="rId14"/>
  </p:sldIdLst>
  <p:sldSz cx="9144000" cy="5143500" type="screen16x9"/>
  <p:notesSz cx="6858000" cy="9144000"/>
  <p:embeddedFontLst>
    <p:embeddedFont>
      <p:font typeface="Montserrat" panose="00000500000000000000" pitchFamily="2" charset="-52"/>
      <p:regular r:id="rId16"/>
      <p:bold r:id="rId17"/>
      <p:italic r:id="rId18"/>
      <p:boldItalic r:id="rId19"/>
    </p:embeddedFont>
    <p:embeddedFont>
      <p:font typeface="Montserrat ExtraBold" panose="00000900000000000000" pitchFamily="2" charset="-52"/>
      <p:bold r:id="rId20"/>
      <p:boldItalic r:id="rId21"/>
    </p:embeddedFont>
    <p:embeddedFont>
      <p:font typeface="Montserrat Medium" panose="00000600000000000000" pitchFamily="2" charset="-52"/>
      <p:regular r:id="rId22"/>
      <p:bold r:id="rId23"/>
      <p:italic r:id="rId24"/>
      <p:boldItalic r:id="rId25"/>
    </p:embeddedFont>
    <p:embeddedFont>
      <p:font typeface="Montserrat SemiBold" panose="00000700000000000000" pitchFamily="2" charset="-52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4">
          <p15:clr>
            <a:srgbClr val="747775"/>
          </p15:clr>
        </p15:guide>
        <p15:guide id="2" pos="2880">
          <p15:clr>
            <a:srgbClr val="747775"/>
          </p15:clr>
        </p15:guide>
        <p15:guide id="3" pos="424">
          <p15:clr>
            <a:srgbClr val="747775"/>
          </p15:clr>
        </p15:guide>
        <p15:guide id="4" orient="horz" pos="454">
          <p15:clr>
            <a:srgbClr val="747775"/>
          </p15:clr>
        </p15:guide>
        <p15:guide id="5" orient="horz" pos="2786">
          <p15:clr>
            <a:srgbClr val="747775"/>
          </p15:clr>
        </p15:guide>
        <p15:guide id="6" pos="1247">
          <p15:clr>
            <a:srgbClr val="747775"/>
          </p15:clr>
        </p15:guide>
        <p15:guide id="7" pos="2064">
          <p15:clr>
            <a:srgbClr val="747775"/>
          </p15:clr>
        </p15:guide>
        <p15:guide id="8" pos="3685">
          <p15:clr>
            <a:srgbClr val="747775"/>
          </p15:clr>
        </p15:guide>
        <p15:guide id="9" pos="4555">
          <p15:clr>
            <a:srgbClr val="747775"/>
          </p15:clr>
        </p15:guide>
        <p15:guide id="10" orient="horz" pos="844">
          <p15:clr>
            <a:srgbClr val="747775"/>
          </p15:clr>
        </p15:guide>
        <p15:guide id="11" orient="horz" pos="2005">
          <p15:clr>
            <a:srgbClr val="747775"/>
          </p15:clr>
        </p15:guide>
        <p15:guide id="12" orient="horz" pos="2390">
          <p15:clr>
            <a:srgbClr val="747775"/>
          </p15:clr>
        </p15:guide>
        <p15:guide id="13" pos="5306">
          <p15:clr>
            <a:srgbClr val="747775"/>
          </p15:clr>
        </p15:guide>
        <p15:guide id="14" orient="horz" pos="1235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jIB+2iUhPWGjX0AWTMrn4i3SMV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3FC5"/>
    <a:srgbClr val="E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72" autoAdjust="0"/>
    <p:restoredTop sz="94660"/>
  </p:normalViewPr>
  <p:slideViewPr>
    <p:cSldViewPr snapToGrid="0">
      <p:cViewPr varScale="1">
        <p:scale>
          <a:sx n="60" d="100"/>
          <a:sy n="60" d="100"/>
        </p:scale>
        <p:origin x="34" y="686"/>
      </p:cViewPr>
      <p:guideLst>
        <p:guide orient="horz" pos="1614"/>
        <p:guide pos="2880"/>
        <p:guide pos="424"/>
        <p:guide orient="horz" pos="454"/>
        <p:guide orient="horz" pos="2786"/>
        <p:guide pos="1247"/>
        <p:guide pos="2064"/>
        <p:guide pos="3685"/>
        <p:guide pos="4555"/>
        <p:guide orient="horz" pos="844"/>
        <p:guide orient="horz" pos="2005"/>
        <p:guide orient="horz" pos="2390"/>
        <p:guide pos="5306"/>
        <p:guide orient="horz" pos="12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926c71de0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g30926c71de0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0926c71de0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0926c71de0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6c71de0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g30926c71de0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DD83FE35-6D3B-3295-A2E6-1469BC95A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6c71de0_0_151:notes">
            <a:extLst>
              <a:ext uri="{FF2B5EF4-FFF2-40B4-BE49-F238E27FC236}">
                <a16:creationId xmlns:a16="http://schemas.microsoft.com/office/drawing/2014/main" id="{A2163536-02C1-31A8-5B29-66CC4DF4B1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g30926c71de0_0_151:notes">
            <a:extLst>
              <a:ext uri="{FF2B5EF4-FFF2-40B4-BE49-F238E27FC236}">
                <a16:creationId xmlns:a16="http://schemas.microsoft.com/office/drawing/2014/main" id="{C948875E-82BC-1B1F-90BD-83824BFFD1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492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A88E58F6-E049-FD3B-EF56-2B8E71F61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6c71de0_0_151:notes">
            <a:extLst>
              <a:ext uri="{FF2B5EF4-FFF2-40B4-BE49-F238E27FC236}">
                <a16:creationId xmlns:a16="http://schemas.microsoft.com/office/drawing/2014/main" id="{F2EBD113-BC0C-4A9D-AEA3-B4E0374C22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g30926c71de0_0_151:notes">
            <a:extLst>
              <a:ext uri="{FF2B5EF4-FFF2-40B4-BE49-F238E27FC236}">
                <a16:creationId xmlns:a16="http://schemas.microsoft.com/office/drawing/2014/main" id="{ECD1FF53-C4A8-E9C0-E81E-2C8DD31830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2040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3B2B4025-F7F7-D5E1-B715-67B0CD775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6c71de0_0_151:notes">
            <a:extLst>
              <a:ext uri="{FF2B5EF4-FFF2-40B4-BE49-F238E27FC236}">
                <a16:creationId xmlns:a16="http://schemas.microsoft.com/office/drawing/2014/main" id="{A10A5AB0-93EF-E733-C4F1-B0D27C737A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g30926c71de0_0_151:notes">
            <a:extLst>
              <a:ext uri="{FF2B5EF4-FFF2-40B4-BE49-F238E27FC236}">
                <a16:creationId xmlns:a16="http://schemas.microsoft.com/office/drawing/2014/main" id="{CB79DA9F-A6D8-922F-572F-B89EEB825D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1864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2351DDD7-20D1-2181-E737-56326706F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6c71de0_0_151:notes">
            <a:extLst>
              <a:ext uri="{FF2B5EF4-FFF2-40B4-BE49-F238E27FC236}">
                <a16:creationId xmlns:a16="http://schemas.microsoft.com/office/drawing/2014/main" id="{6AEA8820-EA2F-314C-2959-BCA9E06BD0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g30926c71de0_0_151:notes">
            <a:extLst>
              <a:ext uri="{FF2B5EF4-FFF2-40B4-BE49-F238E27FC236}">
                <a16:creationId xmlns:a16="http://schemas.microsoft.com/office/drawing/2014/main" id="{667711D6-F37C-0C1C-0EA3-7BFF37AA7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0482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2BAD64A6-D7E0-D873-3604-E8C69B84E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926c71de0_0_194:notes">
            <a:extLst>
              <a:ext uri="{FF2B5EF4-FFF2-40B4-BE49-F238E27FC236}">
                <a16:creationId xmlns:a16="http://schemas.microsoft.com/office/drawing/2014/main" id="{B2BD9FDA-2ED2-4308-3E91-909B80CDC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0926c71de0_0_194:notes">
            <a:extLst>
              <a:ext uri="{FF2B5EF4-FFF2-40B4-BE49-F238E27FC236}">
                <a16:creationId xmlns:a16="http://schemas.microsoft.com/office/drawing/2014/main" id="{95FBDB1E-07E6-281F-AF86-4E1C2B20E9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5552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6B1359C2-A7E5-F19B-F8FD-1B0BFFB4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926c71de0_0_194:notes">
            <a:extLst>
              <a:ext uri="{FF2B5EF4-FFF2-40B4-BE49-F238E27FC236}">
                <a16:creationId xmlns:a16="http://schemas.microsoft.com/office/drawing/2014/main" id="{C6775598-4CAE-A154-9335-ED77B6CBB8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0926c71de0_0_194:notes">
            <a:extLst>
              <a:ext uri="{FF2B5EF4-FFF2-40B4-BE49-F238E27FC236}">
                <a16:creationId xmlns:a16="http://schemas.microsoft.com/office/drawing/2014/main" id="{2F9855E1-E254-E4E0-9450-CD88FEC5F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3170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198425E5-D05F-FEE3-450D-74F5B3954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926c71de0_0_194:notes">
            <a:extLst>
              <a:ext uri="{FF2B5EF4-FFF2-40B4-BE49-F238E27FC236}">
                <a16:creationId xmlns:a16="http://schemas.microsoft.com/office/drawing/2014/main" id="{004E4AE7-2515-C64C-784A-91456F1996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0926c71de0_0_194:notes">
            <a:extLst>
              <a:ext uri="{FF2B5EF4-FFF2-40B4-BE49-F238E27FC236}">
                <a16:creationId xmlns:a16="http://schemas.microsoft.com/office/drawing/2014/main" id="{4465CC08-7F37-FA67-AF60-CE5702A8F4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0866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E140334-94E4-4708-B294-8D77CC554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926c71de0_0_194:notes">
            <a:extLst>
              <a:ext uri="{FF2B5EF4-FFF2-40B4-BE49-F238E27FC236}">
                <a16:creationId xmlns:a16="http://schemas.microsoft.com/office/drawing/2014/main" id="{D9E8A273-53AE-F89D-87CA-C4F618DA5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0926c71de0_0_194:notes">
            <a:extLst>
              <a:ext uri="{FF2B5EF4-FFF2-40B4-BE49-F238E27FC236}">
                <a16:creationId xmlns:a16="http://schemas.microsoft.com/office/drawing/2014/main" id="{1675554F-581E-78FD-50E2-90CC1FFFB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2687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D14DAFA0-E878-A0F2-AE87-DB4FC30ED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0926c71de0_0_159:notes">
            <a:extLst>
              <a:ext uri="{FF2B5EF4-FFF2-40B4-BE49-F238E27FC236}">
                <a16:creationId xmlns:a16="http://schemas.microsoft.com/office/drawing/2014/main" id="{C7835F0A-392D-7959-BBA5-6EBC137140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0926c71de0_0_159:notes">
            <a:extLst>
              <a:ext uri="{FF2B5EF4-FFF2-40B4-BE49-F238E27FC236}">
                <a16:creationId xmlns:a16="http://schemas.microsoft.com/office/drawing/2014/main" id="{E350AEA3-854F-F3CE-C831-7C1C768B2D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82055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9A5ADB1E-0480-0EAD-50E2-2AC559AFE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926c71de0_0_142:notes">
            <a:extLst>
              <a:ext uri="{FF2B5EF4-FFF2-40B4-BE49-F238E27FC236}">
                <a16:creationId xmlns:a16="http://schemas.microsoft.com/office/drawing/2014/main" id="{2B255AA5-6D57-7EA7-07CB-A3E279A6C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g30926c71de0_0_142:notes">
            <a:extLst>
              <a:ext uri="{FF2B5EF4-FFF2-40B4-BE49-F238E27FC236}">
                <a16:creationId xmlns:a16="http://schemas.microsoft.com/office/drawing/2014/main" id="{2EFAB153-9859-8323-77CB-876CA418D7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5585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1" type="obj">
  <p:cSld name="OBJEC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82d316f19_0_72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g3082d316f19_0_7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g3082d316f19_0_7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4EBF97-6F6F-3F66-4287-4FC808F6CE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0" name="Google Shape;60;g30926c71de0_0_1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78;g30926c71de0_0_159">
            <a:extLst>
              <a:ext uri="{FF2B5EF4-FFF2-40B4-BE49-F238E27FC236}">
                <a16:creationId xmlns:a16="http://schemas.microsoft.com/office/drawing/2014/main" id="{818FD66E-80F1-B887-1C55-73CF9B70CE4C}"/>
              </a:ext>
            </a:extLst>
          </p:cNvPr>
          <p:cNvSpPr/>
          <p:nvPr/>
        </p:nvSpPr>
        <p:spPr>
          <a:xfrm>
            <a:off x="4633993" y="3975315"/>
            <a:ext cx="4028093" cy="8438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800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FE513-B0A6-7A6B-0E3B-7315B68CC37D}"/>
              </a:ext>
            </a:extLst>
          </p:cNvPr>
          <p:cNvSpPr txBox="1"/>
          <p:nvPr/>
        </p:nvSpPr>
        <p:spPr>
          <a:xfrm>
            <a:off x="3928821" y="317049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Montserrat Medium" panose="00000600000000000000" pitchFamily="2" charset="-52"/>
              </a:rPr>
              <a:t>Город в движении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54F056-08E0-451C-C616-8D88844C15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2000"/>
          </a:blip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78" name="Google Shape;78;g30926c71de0_0_159"/>
          <p:cNvSpPr/>
          <p:nvPr/>
        </p:nvSpPr>
        <p:spPr>
          <a:xfrm>
            <a:off x="478808" y="900277"/>
            <a:ext cx="8378473" cy="6655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Clr>
                <a:schemeClr val="dk1"/>
              </a:buClr>
              <a:buSzPts val="2200"/>
            </a:pPr>
            <a:r>
              <a:rPr lang="ru-RU" sz="2400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</a:t>
            </a:r>
            <a:r>
              <a:rPr lang="ru-RU" sz="2400" b="0" i="0" u="none" strike="noStrike" cap="none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имулятор городской транспортной среды</a:t>
            </a:r>
            <a:endParaRPr sz="2400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400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400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400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9" name="Google Shape;79;g30926c71de0_0_159"/>
          <p:cNvSpPr txBox="1"/>
          <p:nvPr/>
        </p:nvSpPr>
        <p:spPr>
          <a:xfrm>
            <a:off x="1996054" y="286131"/>
            <a:ext cx="5065146" cy="53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lang="en-US" sz="2900" b="1" i="0" u="none" strike="noStrike" cap="none" dirty="0" err="1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CityFlow</a:t>
            </a:r>
            <a:r>
              <a:rPr lang="ru-RU" sz="2900" b="1" i="0" u="none" strike="noStrike" cap="none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</a:p>
        </p:txBody>
      </p:sp>
      <p:sp>
        <p:nvSpPr>
          <p:cNvPr id="2" name="Google Shape;78;g30926c71de0_0_159">
            <a:extLst>
              <a:ext uri="{FF2B5EF4-FFF2-40B4-BE49-F238E27FC236}">
                <a16:creationId xmlns:a16="http://schemas.microsoft.com/office/drawing/2014/main" id="{3D485C4B-8389-326C-648B-75282C145850}"/>
              </a:ext>
            </a:extLst>
          </p:cNvPr>
          <p:cNvSpPr/>
          <p:nvPr/>
        </p:nvSpPr>
        <p:spPr>
          <a:xfrm>
            <a:off x="663720" y="1822619"/>
            <a:ext cx="7488638" cy="158352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400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Где конфликтуют автобусы и трамваи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400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Где скапливаются пассажиры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400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Где перегруженный маршрут, а где – пустой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400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Часы пик</a:t>
            </a:r>
          </a:p>
        </p:txBody>
      </p:sp>
      <p:sp>
        <p:nvSpPr>
          <p:cNvPr id="4" name="Google Shape;78;g30926c71de0_0_159">
            <a:extLst>
              <a:ext uri="{FF2B5EF4-FFF2-40B4-BE49-F238E27FC236}">
                <a16:creationId xmlns:a16="http://schemas.microsoft.com/office/drawing/2014/main" id="{554B9F06-09B6-ADD6-8A4D-A8773458813C}"/>
              </a:ext>
            </a:extLst>
          </p:cNvPr>
          <p:cNvSpPr/>
          <p:nvPr/>
        </p:nvSpPr>
        <p:spPr>
          <a:xfrm>
            <a:off x="593978" y="1374486"/>
            <a:ext cx="8378473" cy="96236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Clr>
                <a:schemeClr val="dk1"/>
              </a:buClr>
              <a:buSzPts val="2200"/>
            </a:pPr>
            <a:r>
              <a:rPr lang="en-US" sz="2400" b="1" dirty="0" err="1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CityFlow</a:t>
            </a:r>
            <a:r>
              <a:rPr lang="ru-RU" sz="2400" b="0" i="0" u="none" strike="noStrike" cap="none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показывает:</a:t>
            </a:r>
            <a:endParaRPr sz="2400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66737723-6343-78AD-FF04-9C4B75BF2468}"/>
              </a:ext>
            </a:extLst>
          </p:cNvPr>
          <p:cNvSpPr/>
          <p:nvPr/>
        </p:nvSpPr>
        <p:spPr>
          <a:xfrm>
            <a:off x="478808" y="2012284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8C3FC5"/>
            </a:solidFill>
          </a:ln>
          <a:effectLst>
            <a:glow rad="63500">
              <a:srgbClr val="8C3FC5">
                <a:alpha val="8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98E857B-4054-750A-AB22-3CB339FBF9E3}"/>
              </a:ext>
            </a:extLst>
          </p:cNvPr>
          <p:cNvSpPr/>
          <p:nvPr/>
        </p:nvSpPr>
        <p:spPr>
          <a:xfrm>
            <a:off x="478808" y="2406962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E20000"/>
            </a:solidFill>
          </a:ln>
          <a:effectLst>
            <a:glow rad="63500">
              <a:srgbClr val="E20000">
                <a:alpha val="84706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86C7C615-8F30-84D0-26EF-D264634BFA6B}"/>
              </a:ext>
            </a:extLst>
          </p:cNvPr>
          <p:cNvSpPr/>
          <p:nvPr/>
        </p:nvSpPr>
        <p:spPr>
          <a:xfrm>
            <a:off x="478808" y="3130668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E20000"/>
            </a:solidFill>
          </a:ln>
          <a:effectLst>
            <a:glow rad="63500">
              <a:srgbClr val="E20000">
                <a:alpha val="84706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A74A4B9E-CC6E-4E34-ECD2-B48C70C3831A}"/>
              </a:ext>
            </a:extLst>
          </p:cNvPr>
          <p:cNvSpPr/>
          <p:nvPr/>
        </p:nvSpPr>
        <p:spPr>
          <a:xfrm>
            <a:off x="478808" y="2783330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8C3FC5"/>
            </a:solidFill>
          </a:ln>
          <a:effectLst>
            <a:glow rad="63500">
              <a:srgbClr val="8C3FC5">
                <a:alpha val="8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291A2C-EAC3-146F-C0C4-F7B2B93CC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67" name="Google Shape;67;g30926c71de0_0_151"/>
          <p:cNvSpPr txBox="1">
            <a:spLocks noGrp="1"/>
          </p:cNvSpPr>
          <p:nvPr>
            <p:ph type="ctrTitle"/>
          </p:nvPr>
        </p:nvSpPr>
        <p:spPr>
          <a:xfrm>
            <a:off x="311700" y="-515716"/>
            <a:ext cx="8520600" cy="15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Транспортный кризис 2030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Google Shape;78;g30926c71de0_0_159">
            <a:extLst>
              <a:ext uri="{FF2B5EF4-FFF2-40B4-BE49-F238E27FC236}">
                <a16:creationId xmlns:a16="http://schemas.microsoft.com/office/drawing/2014/main" id="{96420635-3910-7BC9-BE17-F694AE3BF1E3}"/>
              </a:ext>
            </a:extLst>
          </p:cNvPr>
          <p:cNvSpPr/>
          <p:nvPr/>
        </p:nvSpPr>
        <p:spPr>
          <a:xfrm>
            <a:off x="203200" y="1053584"/>
            <a:ext cx="5270500" cy="3721616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defTabSz="21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2000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Рост нагрузки на 50%: </a:t>
            </a:r>
            <a:r>
              <a:rPr lang="ru-RU" sz="2000" b="0" i="0" u="none" strike="noStrike" cap="none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 2030 году инфраструктура перестанет справляться </a:t>
            </a:r>
          </a:p>
          <a:p>
            <a:pPr marL="0" marR="0" lvl="0" indent="0" defTabSz="21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Статичность схем: Маршруты не адаптируются под динамику застройки районов</a:t>
            </a:r>
          </a:p>
        </p:txBody>
      </p:sp>
      <p:pic>
        <p:nvPicPr>
          <p:cNvPr id="16" name="Рисунок 15" descr="Sensors 21 02964 g008">
            <a:extLst>
              <a:ext uri="{FF2B5EF4-FFF2-40B4-BE49-F238E27FC236}">
                <a16:creationId xmlns:a16="http://schemas.microsoft.com/office/drawing/2014/main" id="{BC024A58-9852-B9D0-562D-A3E1B41736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09" t="1799" r="28626" b="1421"/>
          <a:stretch>
            <a:fillRect/>
          </a:stretch>
        </p:blipFill>
        <p:spPr>
          <a:xfrm>
            <a:off x="5142562" y="1085334"/>
            <a:ext cx="3797300" cy="3251200"/>
          </a:xfrm>
          <a:prstGeom prst="rect">
            <a:avLst/>
          </a:prstGeom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2C0FDF88-D164-B52E-0558-7C4CB463BC6A}"/>
              </a:ext>
            </a:extLst>
          </p:cNvPr>
          <p:cNvSpPr/>
          <p:nvPr/>
        </p:nvSpPr>
        <p:spPr>
          <a:xfrm>
            <a:off x="219244" y="1419570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8C3FC5"/>
            </a:solidFill>
          </a:ln>
          <a:effectLst>
            <a:glow rad="63500">
              <a:srgbClr val="8C3FC5">
                <a:alpha val="8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CE719F3F-46B7-45F6-7388-A29BE015B186}"/>
              </a:ext>
            </a:extLst>
          </p:cNvPr>
          <p:cNvSpPr/>
          <p:nvPr/>
        </p:nvSpPr>
        <p:spPr>
          <a:xfrm>
            <a:off x="219244" y="2290724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E20000"/>
            </a:solidFill>
          </a:ln>
          <a:effectLst>
            <a:glow rad="63500">
              <a:srgbClr val="E20000">
                <a:alpha val="84706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3DF704C-D9E4-ECA7-7BCA-9DD16C718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22B8C81-D642-1445-BB18-15C920FDE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67" name="Google Shape;67;g30926c71de0_0_151">
            <a:extLst>
              <a:ext uri="{FF2B5EF4-FFF2-40B4-BE49-F238E27FC236}">
                <a16:creationId xmlns:a16="http://schemas.microsoft.com/office/drawing/2014/main" id="{172E5E4C-5BFD-6E11-BE71-F15C0D010C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-515716"/>
            <a:ext cx="8520600" cy="15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Информационный вакуум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Google Shape;78;g30926c71de0_0_159">
            <a:extLst>
              <a:ext uri="{FF2B5EF4-FFF2-40B4-BE49-F238E27FC236}">
                <a16:creationId xmlns:a16="http://schemas.microsoft.com/office/drawing/2014/main" id="{53909700-84A0-DF78-DBE9-265A1E0B0E11}"/>
              </a:ext>
            </a:extLst>
          </p:cNvPr>
          <p:cNvSpPr/>
          <p:nvPr/>
        </p:nvSpPr>
        <p:spPr>
          <a:xfrm>
            <a:off x="404156" y="1053584"/>
            <a:ext cx="8552502" cy="1956316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216000">
              <a:buClr>
                <a:schemeClr val="dk1"/>
              </a:buClr>
              <a:buSzPts val="2200"/>
            </a:pPr>
            <a:r>
              <a:rPr lang="ru-RU" sz="2000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Слепые зоны: Отсутствие данных о конфликтах между разными видами транспорта в узловых точках</a:t>
            </a:r>
          </a:p>
          <a:p>
            <a:pPr lvl="0" defTabSz="216000">
              <a:buClr>
                <a:schemeClr val="dk1"/>
              </a:buClr>
              <a:buSzPts val="2200"/>
            </a:pPr>
            <a:r>
              <a:rPr lang="ru-RU" sz="2000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Убытки: Сбои ведут к миллионным убыткам ежедневно</a:t>
            </a:r>
          </a:p>
          <a:p>
            <a:pPr lvl="0" defTabSz="216000">
              <a:buClr>
                <a:schemeClr val="dk1"/>
              </a:buClr>
              <a:buSzPts val="2200"/>
            </a:pPr>
            <a:r>
              <a:rPr lang="ru-RU" sz="2000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Недовольство людей: Скопления пассажиров без прогнозируемой логики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D95B527-DD7A-EA8B-972B-7F3B265E759C}"/>
              </a:ext>
            </a:extLst>
          </p:cNvPr>
          <p:cNvSpPr/>
          <p:nvPr/>
        </p:nvSpPr>
        <p:spPr>
          <a:xfrm>
            <a:off x="305900" y="1303775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8C3FC5"/>
            </a:solidFill>
          </a:ln>
          <a:effectLst>
            <a:glow rad="63500">
              <a:srgbClr val="8C3FC5">
                <a:alpha val="8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5328AD6-5E75-82EA-7052-C374CEE94FD9}"/>
              </a:ext>
            </a:extLst>
          </p:cNvPr>
          <p:cNvSpPr/>
          <p:nvPr/>
        </p:nvSpPr>
        <p:spPr>
          <a:xfrm>
            <a:off x="319700" y="1988332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E20000"/>
            </a:solidFill>
          </a:ln>
          <a:effectLst>
            <a:glow rad="63500">
              <a:srgbClr val="E20000">
                <a:alpha val="84706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7727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CB77FB53-032A-E005-91B4-B7DBE6B39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0921F9-1653-E653-71AB-9169FCEF9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67" name="Google Shape;67;g30926c71de0_0_151">
            <a:extLst>
              <a:ext uri="{FF2B5EF4-FFF2-40B4-BE49-F238E27FC236}">
                <a16:creationId xmlns:a16="http://schemas.microsoft.com/office/drawing/2014/main" id="{BE6424C6-9B55-711F-8D7E-1F16DAF0E9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-515716"/>
            <a:ext cx="8520600" cy="15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Цена ошибки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Google Shape;78;g30926c71de0_0_159">
            <a:extLst>
              <a:ext uri="{FF2B5EF4-FFF2-40B4-BE49-F238E27FC236}">
                <a16:creationId xmlns:a16="http://schemas.microsoft.com/office/drawing/2014/main" id="{D6DD3F7F-1AF6-C457-1B47-3ACF5012F083}"/>
              </a:ext>
            </a:extLst>
          </p:cNvPr>
          <p:cNvSpPr/>
          <p:nvPr/>
        </p:nvSpPr>
        <p:spPr>
          <a:xfrm>
            <a:off x="404156" y="1053584"/>
            <a:ext cx="8552502" cy="1956316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216000">
              <a:buClr>
                <a:schemeClr val="dk1"/>
              </a:buClr>
              <a:buSzPts val="2200"/>
            </a:pPr>
            <a:r>
              <a:rPr lang="ru-RU" sz="2000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Проверка одного изменения маршрута «вживую» занимает недели, требует огромных бюджетов и несет риск парализовать целый район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8DBBD9D4-159A-C812-918E-7EED954C015B}"/>
              </a:ext>
            </a:extLst>
          </p:cNvPr>
          <p:cNvSpPr/>
          <p:nvPr/>
        </p:nvSpPr>
        <p:spPr>
          <a:xfrm>
            <a:off x="305900" y="1303775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8C3FC5"/>
            </a:solidFill>
          </a:ln>
          <a:effectLst>
            <a:glow rad="63500">
              <a:srgbClr val="8C3FC5">
                <a:alpha val="8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4161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E940202A-467E-04C6-7414-CB3C91989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EB9687-747E-61C3-8217-97C404A5A6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2000"/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7" name="Google Shape;67;g30926c71de0_0_151">
            <a:extLst>
              <a:ext uri="{FF2B5EF4-FFF2-40B4-BE49-F238E27FC236}">
                <a16:creationId xmlns:a16="http://schemas.microsoft.com/office/drawing/2014/main" id="{C2A3F624-A64C-A118-05BE-453DF39E13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-515716"/>
            <a:ext cx="8520600" cy="15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b="1" dirty="0" err="1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CityFlow</a:t>
            </a:r>
            <a:r>
              <a:rPr lang="ru-RU" sz="3600" b="1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– песочница для города</a:t>
            </a:r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5" name="Google Shape;78;g30926c71de0_0_159">
            <a:extLst>
              <a:ext uri="{FF2B5EF4-FFF2-40B4-BE49-F238E27FC236}">
                <a16:creationId xmlns:a16="http://schemas.microsoft.com/office/drawing/2014/main" id="{045A3DBE-1C29-B64B-3A01-86B88F253E65}"/>
              </a:ext>
            </a:extLst>
          </p:cNvPr>
          <p:cNvSpPr/>
          <p:nvPr/>
        </p:nvSpPr>
        <p:spPr>
          <a:xfrm>
            <a:off x="5181986" y="2013514"/>
            <a:ext cx="3962014" cy="79666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Clr>
                <a:schemeClr val="dk1"/>
              </a:buClr>
              <a:buSzPts val="2200"/>
            </a:pPr>
            <a:r>
              <a:rPr lang="ru-RU" sz="2000" i="1" dirty="0">
                <a:solidFill>
                  <a:schemeClr val="bg1"/>
                </a:solidFill>
              </a:rPr>
              <a:t>Выдаёт готовую аналитику для оптимизации маршрутов</a:t>
            </a:r>
            <a:endParaRPr sz="2800" i="1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FC4AD018-4BF7-1AE6-509E-91AC633C7344}"/>
              </a:ext>
            </a:extLst>
          </p:cNvPr>
          <p:cNvCxnSpPr>
            <a:cxnSpLocks/>
          </p:cNvCxnSpPr>
          <p:nvPr/>
        </p:nvCxnSpPr>
        <p:spPr>
          <a:xfrm>
            <a:off x="3088538" y="2459516"/>
            <a:ext cx="2093448" cy="0"/>
          </a:xfrm>
          <a:prstGeom prst="straightConnector1">
            <a:avLst/>
          </a:prstGeom>
          <a:ln w="38100">
            <a:solidFill>
              <a:schemeClr val="bg1">
                <a:alpha val="56000"/>
              </a:schemeClr>
            </a:solidFill>
            <a:tailEnd type="triangle"/>
          </a:ln>
          <a:effectLst>
            <a:glow rad="63500">
              <a:srgbClr val="8C3FC5">
                <a:alpha val="88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78;g30926c71de0_0_159">
            <a:extLst>
              <a:ext uri="{FF2B5EF4-FFF2-40B4-BE49-F238E27FC236}">
                <a16:creationId xmlns:a16="http://schemas.microsoft.com/office/drawing/2014/main" id="{D8B3017D-89DC-D573-24D1-2D54CE94BA4E}"/>
              </a:ext>
            </a:extLst>
          </p:cNvPr>
          <p:cNvSpPr/>
          <p:nvPr/>
        </p:nvSpPr>
        <p:spPr>
          <a:xfrm>
            <a:off x="-160234" y="2061185"/>
            <a:ext cx="3389379" cy="79666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Clr>
                <a:schemeClr val="dk1"/>
              </a:buClr>
              <a:buSzPts val="2200"/>
            </a:pPr>
            <a:r>
              <a:rPr lang="ru-RU" sz="2000" i="1" dirty="0">
                <a:solidFill>
                  <a:schemeClr val="bg1"/>
                </a:solidFill>
              </a:rPr>
              <a:t>Моделирует все процессы перевозок  </a:t>
            </a:r>
          </a:p>
        </p:txBody>
      </p:sp>
      <p:sp>
        <p:nvSpPr>
          <p:cNvPr id="10" name="Google Shape;78;g30926c71de0_0_159">
            <a:extLst>
              <a:ext uri="{FF2B5EF4-FFF2-40B4-BE49-F238E27FC236}">
                <a16:creationId xmlns:a16="http://schemas.microsoft.com/office/drawing/2014/main" id="{01379DE3-1233-2B41-7AB8-CD3669A1D242}"/>
              </a:ext>
            </a:extLst>
          </p:cNvPr>
          <p:cNvSpPr/>
          <p:nvPr/>
        </p:nvSpPr>
        <p:spPr>
          <a:xfrm>
            <a:off x="153420" y="833654"/>
            <a:ext cx="8832300" cy="79666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Clr>
                <a:schemeClr val="dk1"/>
              </a:buClr>
              <a:buSzPts val="2200"/>
            </a:pPr>
            <a:r>
              <a:rPr lang="ru-RU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Мы заменяем эксперименты на дорогах точной симуляцией</a:t>
            </a:r>
          </a:p>
        </p:txBody>
      </p:sp>
    </p:spTree>
    <p:extLst>
      <p:ext uri="{BB962C8B-B14F-4D97-AF65-F5344CB8AC3E}">
        <p14:creationId xmlns:p14="http://schemas.microsoft.com/office/powerpoint/2010/main" val="369520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66">
          <a:extLst>
            <a:ext uri="{FF2B5EF4-FFF2-40B4-BE49-F238E27FC236}">
              <a16:creationId xmlns:a16="http://schemas.microsoft.com/office/drawing/2014/main" id="{87CABF4C-BC54-C91A-2ECD-E61DC1F4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екторы на тему «Люди работают» — скачивайте бесплатные векторы высокого  качества на Freepik | Freepik">
            <a:extLst>
              <a:ext uri="{FF2B5EF4-FFF2-40B4-BE49-F238E27FC236}">
                <a16:creationId xmlns:a16="http://schemas.microsoft.com/office/drawing/2014/main" id="{889A0074-673A-16CD-5E29-9E5053F9C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123" y="1552403"/>
            <a:ext cx="4317558" cy="2656959"/>
          </a:xfrm>
          <a:prstGeom prst="rect">
            <a:avLst/>
          </a:prstGeom>
        </p:spPr>
      </p:pic>
      <p:sp>
        <p:nvSpPr>
          <p:cNvPr id="67" name="Google Shape;67;g30926c71de0_0_151">
            <a:extLst>
              <a:ext uri="{FF2B5EF4-FFF2-40B4-BE49-F238E27FC236}">
                <a16:creationId xmlns:a16="http://schemas.microsoft.com/office/drawing/2014/main" id="{541BC244-0806-9534-0587-EC2FE1C9FBE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-515716"/>
            <a:ext cx="8520600" cy="15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-RU" sz="3200" dirty="0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Кому будет полезен наш проект? </a:t>
            </a:r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3" name="Google Shape;78;g30926c71de0_0_159">
            <a:extLst>
              <a:ext uri="{FF2B5EF4-FFF2-40B4-BE49-F238E27FC236}">
                <a16:creationId xmlns:a16="http://schemas.microsoft.com/office/drawing/2014/main" id="{54E5B00B-033C-6806-874B-EE07C75AE2E1}"/>
              </a:ext>
            </a:extLst>
          </p:cNvPr>
          <p:cNvSpPr/>
          <p:nvPr/>
        </p:nvSpPr>
        <p:spPr>
          <a:xfrm>
            <a:off x="3134373" y="4355921"/>
            <a:ext cx="2875254" cy="518196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3" algn="ctr" defTabSz="216000">
              <a:buClr>
                <a:schemeClr val="dk1"/>
              </a:buClr>
              <a:buSzPts val="2200"/>
            </a:pPr>
            <a:r>
              <a:rPr lang="ru-RU" sz="2000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2000" b="1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Студентам</a:t>
            </a:r>
          </a:p>
        </p:txBody>
      </p:sp>
      <p:sp>
        <p:nvSpPr>
          <p:cNvPr id="6" name="Google Shape;78;g30926c71de0_0_159">
            <a:extLst>
              <a:ext uri="{FF2B5EF4-FFF2-40B4-BE49-F238E27FC236}">
                <a16:creationId xmlns:a16="http://schemas.microsoft.com/office/drawing/2014/main" id="{A228438F-42B8-0ECB-F6EF-5A27E4E966E2}"/>
              </a:ext>
            </a:extLst>
          </p:cNvPr>
          <p:cNvSpPr/>
          <p:nvPr/>
        </p:nvSpPr>
        <p:spPr>
          <a:xfrm>
            <a:off x="311701" y="958825"/>
            <a:ext cx="2304278" cy="89403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3" algn="ctr" defTabSz="216000">
              <a:buClr>
                <a:schemeClr val="dk1"/>
              </a:buClr>
              <a:buSzPts val="2200"/>
            </a:pPr>
            <a:r>
              <a:rPr lang="ru-RU" sz="2000" b="1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Транспортным компаниям</a:t>
            </a:r>
          </a:p>
        </p:txBody>
      </p:sp>
      <p:sp>
        <p:nvSpPr>
          <p:cNvPr id="7" name="Google Shape;78;g30926c71de0_0_159">
            <a:extLst>
              <a:ext uri="{FF2B5EF4-FFF2-40B4-BE49-F238E27FC236}">
                <a16:creationId xmlns:a16="http://schemas.microsoft.com/office/drawing/2014/main" id="{70AEE6F8-F3AA-F896-0F0B-12BA836C992C}"/>
              </a:ext>
            </a:extLst>
          </p:cNvPr>
          <p:cNvSpPr/>
          <p:nvPr/>
        </p:nvSpPr>
        <p:spPr>
          <a:xfrm>
            <a:off x="6528023" y="1552403"/>
            <a:ext cx="2735247" cy="101654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3" algn="ctr" defTabSz="216000">
              <a:buClr>
                <a:schemeClr val="dk1"/>
              </a:buClr>
              <a:buSzPts val="2200"/>
            </a:pPr>
            <a:r>
              <a:rPr lang="ru-RU" sz="2000" b="1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Городским администрациям</a:t>
            </a:r>
          </a:p>
        </p:txBody>
      </p:sp>
      <p:cxnSp>
        <p:nvCxnSpPr>
          <p:cNvPr id="5" name="Соединитель: изогнутый 4">
            <a:extLst>
              <a:ext uri="{FF2B5EF4-FFF2-40B4-BE49-F238E27FC236}">
                <a16:creationId xmlns:a16="http://schemas.microsoft.com/office/drawing/2014/main" id="{28689687-CBD0-FFC9-7D88-F844EADDD9C5}"/>
              </a:ext>
            </a:extLst>
          </p:cNvPr>
          <p:cNvCxnSpPr>
            <a:cxnSpLocks/>
            <a:stCxn id="2" idx="1"/>
            <a:endCxn id="6" idx="1"/>
          </p:cNvCxnSpPr>
          <p:nvPr/>
        </p:nvCxnSpPr>
        <p:spPr>
          <a:xfrm rot="10800000">
            <a:off x="311701" y="1405845"/>
            <a:ext cx="2010422" cy="1475039"/>
          </a:xfrm>
          <a:prstGeom prst="curvedConnector3">
            <a:avLst>
              <a:gd name="adj1" fmla="val 111371"/>
            </a:avLst>
          </a:prstGeom>
          <a:ln w="38100">
            <a:solidFill>
              <a:schemeClr val="bg1">
                <a:alpha val="56000"/>
              </a:schemeClr>
            </a:solidFill>
            <a:tailEnd type="triangle"/>
          </a:ln>
          <a:effectLst>
            <a:glow rad="127000">
              <a:srgbClr val="8C3FC5">
                <a:alpha val="86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ED26F680-E940-18B6-7B15-99C62AC04981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6639681" y="2390274"/>
            <a:ext cx="1317203" cy="490609"/>
          </a:xfrm>
          <a:prstGeom prst="curvedConnector3">
            <a:avLst>
              <a:gd name="adj1" fmla="val 126727"/>
            </a:avLst>
          </a:prstGeom>
          <a:ln w="38100">
            <a:solidFill>
              <a:schemeClr val="bg1">
                <a:alpha val="56000"/>
              </a:schemeClr>
            </a:solidFill>
            <a:tailEnd type="triangle"/>
          </a:ln>
          <a:effectLst>
            <a:glow rad="127000">
              <a:srgbClr val="8C3FC5">
                <a:alpha val="8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136AFE11-242A-4C7A-5658-813F162FB7B3}"/>
              </a:ext>
            </a:extLst>
          </p:cNvPr>
          <p:cNvCxnSpPr>
            <a:cxnSpLocks/>
            <a:stCxn id="2" idx="3"/>
          </p:cNvCxnSpPr>
          <p:nvPr/>
        </p:nvCxnSpPr>
        <p:spPr>
          <a:xfrm flipH="1">
            <a:off x="5414211" y="2880883"/>
            <a:ext cx="1225470" cy="1827298"/>
          </a:xfrm>
          <a:prstGeom prst="curvedConnector4">
            <a:avLst>
              <a:gd name="adj1" fmla="val -96543"/>
              <a:gd name="adj2" fmla="val 106104"/>
            </a:avLst>
          </a:prstGeom>
          <a:ln w="38100">
            <a:solidFill>
              <a:schemeClr val="bg1">
                <a:alpha val="56000"/>
              </a:schemeClr>
            </a:solidFill>
            <a:tailEnd type="triangle"/>
          </a:ln>
          <a:effectLst>
            <a:glow rad="127000">
              <a:srgbClr val="8C3FC5">
                <a:alpha val="8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058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96">
          <a:extLst>
            <a:ext uri="{FF2B5EF4-FFF2-40B4-BE49-F238E27FC236}">
              <a16:creationId xmlns:a16="http://schemas.microsoft.com/office/drawing/2014/main" id="{73EF9EFF-D631-E7ED-52B4-355F22E90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6785A8-74D2-17FA-D561-2E7274524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sp>
        <p:nvSpPr>
          <p:cNvPr id="100" name="Google Shape;100;g30926c71de0_0_194">
            <a:extLst>
              <a:ext uri="{FF2B5EF4-FFF2-40B4-BE49-F238E27FC236}">
                <a16:creationId xmlns:a16="http://schemas.microsoft.com/office/drawing/2014/main" id="{69F909DB-EF15-D6EA-FB07-409C8B3F1369}"/>
              </a:ext>
            </a:extLst>
          </p:cNvPr>
          <p:cNvSpPr txBox="1"/>
          <p:nvPr/>
        </p:nvSpPr>
        <p:spPr>
          <a:xfrm>
            <a:off x="317500" y="63402"/>
            <a:ext cx="5605700" cy="107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ru-RU" sz="29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Модульная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ru-RU" sz="29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изоляция слоев</a:t>
            </a:r>
            <a:endParaRPr sz="2900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45F888-E427-53BF-5570-2636B3726B78}"/>
              </a:ext>
            </a:extLst>
          </p:cNvPr>
          <p:cNvSpPr txBox="1"/>
          <p:nvPr/>
        </p:nvSpPr>
        <p:spPr>
          <a:xfrm>
            <a:off x="317500" y="1404077"/>
            <a:ext cx="40005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Разделение инфраструктуры позволяет:</a:t>
            </a:r>
          </a:p>
          <a:p>
            <a:r>
              <a:rPr lang="ru-RU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Изолировать сети автобусов и трамваев</a:t>
            </a:r>
          </a:p>
          <a:p>
            <a:r>
              <a:rPr lang="ru-RU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Легко добавлять новые виды транспорта</a:t>
            </a:r>
          </a:p>
          <a:p>
            <a:r>
              <a:rPr lang="ru-RU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Анализировать маршруты вместе или по отдельности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215F0A19-2665-7666-F86B-13B03F31C4F3}"/>
              </a:ext>
            </a:extLst>
          </p:cNvPr>
          <p:cNvSpPr/>
          <p:nvPr/>
        </p:nvSpPr>
        <p:spPr>
          <a:xfrm>
            <a:off x="154432" y="2148649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8C3FC5"/>
            </a:solidFill>
          </a:ln>
          <a:effectLst>
            <a:glow rad="63500">
              <a:srgbClr val="8C3FC5">
                <a:alpha val="8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31BDEC22-7464-8E8B-A7A9-82971F588A3A}"/>
              </a:ext>
            </a:extLst>
          </p:cNvPr>
          <p:cNvSpPr/>
          <p:nvPr/>
        </p:nvSpPr>
        <p:spPr>
          <a:xfrm>
            <a:off x="132588" y="2741088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E20000"/>
            </a:solidFill>
          </a:ln>
          <a:effectLst>
            <a:glow rad="63500">
              <a:srgbClr val="E20000">
                <a:alpha val="84706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E7536DE1-5ABC-62B5-46CE-70F2C62213D9}"/>
              </a:ext>
            </a:extLst>
          </p:cNvPr>
          <p:cNvSpPr/>
          <p:nvPr/>
        </p:nvSpPr>
        <p:spPr>
          <a:xfrm>
            <a:off x="143510" y="3349855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8C3FC5"/>
            </a:solidFill>
          </a:ln>
          <a:effectLst>
            <a:glow rad="63500">
              <a:srgbClr val="8C3FC5">
                <a:alpha val="8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0838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E6351EB4-05B9-57D8-64B1-BB1D0887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D18A09-FFE5-79DF-6072-8F0772FD0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100" name="Google Shape;100;g30926c71de0_0_194">
            <a:extLst>
              <a:ext uri="{FF2B5EF4-FFF2-40B4-BE49-F238E27FC236}">
                <a16:creationId xmlns:a16="http://schemas.microsoft.com/office/drawing/2014/main" id="{D1AD498C-5807-4CD1-A59A-F05678EC9CDA}"/>
              </a:ext>
            </a:extLst>
          </p:cNvPr>
          <p:cNvSpPr txBox="1"/>
          <p:nvPr/>
        </p:nvSpPr>
        <p:spPr>
          <a:xfrm>
            <a:off x="326040" y="211599"/>
            <a:ext cx="8874600" cy="630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ru-RU" sz="29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Уникальность проекта</a:t>
            </a:r>
            <a:endParaRPr sz="2900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DC304-F81E-36C8-66F3-A353A88D79D9}"/>
              </a:ext>
            </a:extLst>
          </p:cNvPr>
          <p:cNvSpPr txBox="1"/>
          <p:nvPr/>
        </p:nvSpPr>
        <p:spPr>
          <a:xfrm>
            <a:off x="618803" y="1751497"/>
            <a:ext cx="79880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Отдельно автобусы/трамваи/вместе</a:t>
            </a:r>
          </a:p>
          <a:p>
            <a:r>
              <a:rPr lang="ru-RU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Коэффициент замедления 1,5 в часы пик</a:t>
            </a:r>
          </a:p>
          <a:p>
            <a:r>
              <a:rPr lang="ru-RU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Остановка на любом часе</a:t>
            </a:r>
          </a:p>
          <a:p>
            <a:r>
              <a:rPr lang="ru-RU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Сохранение в </a:t>
            </a:r>
            <a:r>
              <a:rPr lang="en-US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TXT+CSV </a:t>
            </a:r>
            <a:endParaRPr lang="ru-RU" sz="20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  <a:p>
            <a:r>
              <a:rPr lang="ru-RU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Безопасный полигон для экспериментов</a:t>
            </a:r>
          </a:p>
          <a:p>
            <a:r>
              <a:rPr lang="ru-RU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Ответы ха минуту, а не за месяц тестов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67870AF4-D5F2-1648-8F81-0C2504FD2102}"/>
              </a:ext>
            </a:extLst>
          </p:cNvPr>
          <p:cNvSpPr/>
          <p:nvPr/>
        </p:nvSpPr>
        <p:spPr>
          <a:xfrm>
            <a:off x="433891" y="1883403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8C3FC5"/>
            </a:solidFill>
          </a:ln>
          <a:effectLst>
            <a:glow rad="63500">
              <a:srgbClr val="8C3FC5">
                <a:alpha val="8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816FD30B-7815-003E-94E6-3CF59F91639A}"/>
              </a:ext>
            </a:extLst>
          </p:cNvPr>
          <p:cNvSpPr/>
          <p:nvPr/>
        </p:nvSpPr>
        <p:spPr>
          <a:xfrm>
            <a:off x="433891" y="2173099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E20000"/>
            </a:solidFill>
          </a:ln>
          <a:effectLst>
            <a:glow rad="63500">
              <a:srgbClr val="E20000">
                <a:alpha val="84706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0858B69A-38FC-3D1A-C99C-A29E5F3AE33D}"/>
              </a:ext>
            </a:extLst>
          </p:cNvPr>
          <p:cNvSpPr/>
          <p:nvPr/>
        </p:nvSpPr>
        <p:spPr>
          <a:xfrm>
            <a:off x="433891" y="2768410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E20000"/>
            </a:solidFill>
          </a:ln>
          <a:effectLst>
            <a:glow rad="63500">
              <a:srgbClr val="E20000">
                <a:alpha val="84706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D7618F9-12AC-60E7-F4D7-E7A1077D0C74}"/>
              </a:ext>
            </a:extLst>
          </p:cNvPr>
          <p:cNvSpPr/>
          <p:nvPr/>
        </p:nvSpPr>
        <p:spPr>
          <a:xfrm>
            <a:off x="433891" y="2489350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8C3FC5"/>
            </a:solidFill>
          </a:ln>
          <a:effectLst>
            <a:glow rad="63500">
              <a:srgbClr val="8C3FC5">
                <a:alpha val="8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B841BE9F-0390-8BB6-BC24-26CD0701159B}"/>
              </a:ext>
            </a:extLst>
          </p:cNvPr>
          <p:cNvSpPr/>
          <p:nvPr/>
        </p:nvSpPr>
        <p:spPr>
          <a:xfrm>
            <a:off x="433891" y="3112764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8C3FC5"/>
            </a:solidFill>
          </a:ln>
          <a:effectLst>
            <a:glow rad="63500">
              <a:srgbClr val="8C3FC5">
                <a:alpha val="8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5637F239-D2A1-3D77-D911-BA36437F1ACB}"/>
              </a:ext>
            </a:extLst>
          </p:cNvPr>
          <p:cNvSpPr/>
          <p:nvPr/>
        </p:nvSpPr>
        <p:spPr>
          <a:xfrm>
            <a:off x="433891" y="3429853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E20000"/>
            </a:solidFill>
          </a:ln>
          <a:effectLst>
            <a:glow rad="63500">
              <a:srgbClr val="E20000">
                <a:alpha val="84706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7275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C0E41E8-1B30-0FD8-AF2C-7BC35A55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65351E4-CA47-A45F-6489-BBC4EF82A8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7000"/>
          </a:blip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  <a:solidFill>
            <a:srgbClr val="7030A0"/>
          </a:solidFill>
        </p:spPr>
      </p:pic>
      <p:sp>
        <p:nvSpPr>
          <p:cNvPr id="100" name="Google Shape;100;g30926c71de0_0_194">
            <a:extLst>
              <a:ext uri="{FF2B5EF4-FFF2-40B4-BE49-F238E27FC236}">
                <a16:creationId xmlns:a16="http://schemas.microsoft.com/office/drawing/2014/main" id="{66B964A9-7F10-D2EF-3B6E-FF68E58C9263}"/>
              </a:ext>
            </a:extLst>
          </p:cNvPr>
          <p:cNvSpPr txBox="1"/>
          <p:nvPr/>
        </p:nvSpPr>
        <p:spPr>
          <a:xfrm>
            <a:off x="326040" y="211599"/>
            <a:ext cx="8874600" cy="630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ru-RU" sz="29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Сравнение с другими проектами:</a:t>
            </a:r>
            <a:endParaRPr sz="2900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B5CF9C7-5992-6AA7-CA5D-857325D8E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591480"/>
              </p:ext>
            </p:extLst>
          </p:nvPr>
        </p:nvGraphicFramePr>
        <p:xfrm>
          <a:off x="345989" y="842511"/>
          <a:ext cx="8328454" cy="416176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762852">
                  <a:extLst>
                    <a:ext uri="{9D8B030D-6E8A-4147-A177-3AD203B41FA5}">
                      <a16:colId xmlns:a16="http://schemas.microsoft.com/office/drawing/2014/main" val="3660491240"/>
                    </a:ext>
                  </a:extLst>
                </a:gridCol>
                <a:gridCol w="2782801">
                  <a:extLst>
                    <a:ext uri="{9D8B030D-6E8A-4147-A177-3AD203B41FA5}">
                      <a16:colId xmlns:a16="http://schemas.microsoft.com/office/drawing/2014/main" val="589142870"/>
                    </a:ext>
                  </a:extLst>
                </a:gridCol>
                <a:gridCol w="2782801">
                  <a:extLst>
                    <a:ext uri="{9D8B030D-6E8A-4147-A177-3AD203B41FA5}">
                      <a16:colId xmlns:a16="http://schemas.microsoft.com/office/drawing/2014/main" val="1547587531"/>
                    </a:ext>
                  </a:extLst>
                </a:gridCol>
              </a:tblGrid>
              <a:tr h="59953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Особенности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2ГИС/Яндекс Транспорт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Наш проект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352570"/>
                  </a:ext>
                </a:extLst>
              </a:tr>
              <a:tr h="9684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Целевая задача</a:t>
                      </a:r>
                    </a:p>
                    <a:p>
                      <a:pPr algn="l"/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2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Навигация</a:t>
                      </a:r>
                    </a:p>
                  </a:txBody>
                  <a:tcPr>
                    <a:solidFill>
                      <a:srgbClr val="E2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Проектирование сети</a:t>
                      </a:r>
                    </a:p>
                  </a:txBody>
                  <a:tcPr>
                    <a:solidFill>
                      <a:srgbClr val="E2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959884"/>
                  </a:ext>
                </a:extLst>
              </a:tr>
              <a:tr h="542436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Возможность посмотреть загруженность остановки/транспорта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Есть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243230"/>
                  </a:ext>
                </a:extLst>
              </a:tr>
              <a:tr h="968443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Возможность моделирования</a:t>
                      </a:r>
                    </a:p>
                  </a:txBody>
                  <a:tcPr>
                    <a:solidFill>
                      <a:srgbClr val="8C3FC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8C3FC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Есть</a:t>
                      </a:r>
                    </a:p>
                  </a:txBody>
                  <a:tcPr>
                    <a:solidFill>
                      <a:srgbClr val="8C3FC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202804"/>
                  </a:ext>
                </a:extLst>
              </a:tr>
              <a:tr h="761842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Моделирование времени суток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Нет</a:t>
                      </a:r>
                    </a:p>
                    <a:p>
                      <a:pPr algn="ctr"/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Есть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441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1434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F68E857B-B4C0-5496-AB04-884930F6E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50AB8A-1575-DAF6-BD44-5A624C873DB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7000"/>
          </a:blip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  <a:solidFill>
            <a:srgbClr val="7030A0"/>
          </a:solidFill>
        </p:spPr>
      </p:pic>
      <p:sp>
        <p:nvSpPr>
          <p:cNvPr id="100" name="Google Shape;100;g30926c71de0_0_194">
            <a:extLst>
              <a:ext uri="{FF2B5EF4-FFF2-40B4-BE49-F238E27FC236}">
                <a16:creationId xmlns:a16="http://schemas.microsoft.com/office/drawing/2014/main" id="{00F247DD-F2F4-DB96-4ACC-15786E651320}"/>
              </a:ext>
            </a:extLst>
          </p:cNvPr>
          <p:cNvSpPr txBox="1"/>
          <p:nvPr/>
        </p:nvSpPr>
        <p:spPr>
          <a:xfrm>
            <a:off x="326040" y="211599"/>
            <a:ext cx="8874600" cy="630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ru-RU" sz="29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Сравнение с другими проектами:</a:t>
            </a:r>
            <a:endParaRPr sz="2900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079FCEF-7B94-91D2-3A74-C47F689DC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897222"/>
              </p:ext>
            </p:extLst>
          </p:nvPr>
        </p:nvGraphicFramePr>
        <p:xfrm>
          <a:off x="407772" y="842510"/>
          <a:ext cx="8410188" cy="398349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789966">
                  <a:extLst>
                    <a:ext uri="{9D8B030D-6E8A-4147-A177-3AD203B41FA5}">
                      <a16:colId xmlns:a16="http://schemas.microsoft.com/office/drawing/2014/main" val="366079285"/>
                    </a:ext>
                  </a:extLst>
                </a:gridCol>
                <a:gridCol w="2810111">
                  <a:extLst>
                    <a:ext uri="{9D8B030D-6E8A-4147-A177-3AD203B41FA5}">
                      <a16:colId xmlns:a16="http://schemas.microsoft.com/office/drawing/2014/main" val="912764524"/>
                    </a:ext>
                  </a:extLst>
                </a:gridCol>
                <a:gridCol w="2810111">
                  <a:extLst>
                    <a:ext uri="{9D8B030D-6E8A-4147-A177-3AD203B41FA5}">
                      <a16:colId xmlns:a16="http://schemas.microsoft.com/office/drawing/2014/main" val="4017009718"/>
                    </a:ext>
                  </a:extLst>
                </a:gridCol>
              </a:tblGrid>
              <a:tr h="817385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/>
                          </a:solidFill>
                        </a:rPr>
                        <a:t>Особенности</a:t>
                      </a:r>
                      <a:endParaRPr lang="ru-RU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/>
                          </a:solidFill>
                        </a:rPr>
                        <a:t>2ГИС/Яндекс Транспорт</a:t>
                      </a:r>
                      <a:endParaRPr lang="ru-RU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/>
                          </a:solidFill>
                        </a:rPr>
                        <a:t>Наш проект</a:t>
                      </a:r>
                      <a:endParaRPr lang="ru-RU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537503"/>
                  </a:ext>
                </a:extLst>
              </a:tr>
              <a:tr h="1236706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Визуализация на карте</a:t>
                      </a:r>
                    </a:p>
                  </a:txBody>
                  <a:tcPr>
                    <a:solidFill>
                      <a:srgbClr val="E2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Есть</a:t>
                      </a:r>
                    </a:p>
                  </a:txBody>
                  <a:tcPr>
                    <a:solidFill>
                      <a:srgbClr val="E2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E2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72611"/>
                  </a:ext>
                </a:extLst>
              </a:tr>
              <a:tr h="692693">
                <a:tc>
                  <a:txBody>
                    <a:bodyPr/>
                    <a:lstStyle/>
                    <a:p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Реальное время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Есть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Нет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217005"/>
                  </a:ext>
                </a:extLst>
              </a:tr>
              <a:tr h="1236706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Мобильное приложения</a:t>
                      </a:r>
                    </a:p>
                  </a:txBody>
                  <a:tcPr>
                    <a:solidFill>
                      <a:srgbClr val="8C3FC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Есть</a:t>
                      </a:r>
                    </a:p>
                  </a:txBody>
                  <a:tcPr>
                    <a:solidFill>
                      <a:srgbClr val="8C3FC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rgbClr val="8C3FC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971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033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1386FB50-7EC7-6FAC-6F84-5D6BE92AE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49744EE-F22A-2CED-E48E-49FAC2AB815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2000"/>
          </a:blip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79" name="Google Shape;79;g30926c71de0_0_159">
            <a:extLst>
              <a:ext uri="{FF2B5EF4-FFF2-40B4-BE49-F238E27FC236}">
                <a16:creationId xmlns:a16="http://schemas.microsoft.com/office/drawing/2014/main" id="{CC55E70E-F65B-0254-CB09-9CE903426831}"/>
              </a:ext>
            </a:extLst>
          </p:cNvPr>
          <p:cNvSpPr txBox="1"/>
          <p:nvPr/>
        </p:nvSpPr>
        <p:spPr>
          <a:xfrm>
            <a:off x="2087700" y="455278"/>
            <a:ext cx="4968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lang="ru-RU" sz="2900" b="1" i="0" u="none" strike="noStrike" cap="none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Преимущества</a:t>
            </a:r>
            <a:endParaRPr sz="2900" b="1" i="0" u="none" strike="noStrike" cap="none" dirty="0">
              <a:solidFill>
                <a:schemeClr val="bg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Google Shape;78;g30926c71de0_0_159">
            <a:extLst>
              <a:ext uri="{FF2B5EF4-FFF2-40B4-BE49-F238E27FC236}">
                <a16:creationId xmlns:a16="http://schemas.microsoft.com/office/drawing/2014/main" id="{956F4838-121E-2953-82C8-EC6E7198CB39}"/>
              </a:ext>
            </a:extLst>
          </p:cNvPr>
          <p:cNvSpPr/>
          <p:nvPr/>
        </p:nvSpPr>
        <p:spPr>
          <a:xfrm>
            <a:off x="792809" y="1381360"/>
            <a:ext cx="7581170" cy="109248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400" b="0" i="0" u="none" strike="noStrike" cap="none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Моделирование движения транспорта по циклическим маршрутам 24 часа в сутки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400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Генерация пассажиров в зависимости от времени суток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400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Сбор и анализ статистики с возможностью экспорта данных для дальнейшего анализа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400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Экономия времени принятия решений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4341ECD5-47B1-14B3-3804-5373A53B5CF1}"/>
              </a:ext>
            </a:extLst>
          </p:cNvPr>
          <p:cNvSpPr/>
          <p:nvPr/>
        </p:nvSpPr>
        <p:spPr>
          <a:xfrm>
            <a:off x="585109" y="1619932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8C3FC5"/>
            </a:solidFill>
          </a:ln>
          <a:effectLst>
            <a:glow rad="63500">
              <a:srgbClr val="8C3FC5">
                <a:alpha val="8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783BCBB8-509A-C203-D6FA-43F22EC50128}"/>
              </a:ext>
            </a:extLst>
          </p:cNvPr>
          <p:cNvSpPr/>
          <p:nvPr/>
        </p:nvSpPr>
        <p:spPr>
          <a:xfrm>
            <a:off x="585109" y="2324115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E20000"/>
            </a:solidFill>
          </a:ln>
          <a:effectLst>
            <a:glow rad="63500">
              <a:srgbClr val="E20000">
                <a:alpha val="84706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D071FCB-5E81-D328-9712-145530312E14}"/>
              </a:ext>
            </a:extLst>
          </p:cNvPr>
          <p:cNvSpPr/>
          <p:nvPr/>
        </p:nvSpPr>
        <p:spPr>
          <a:xfrm>
            <a:off x="585109" y="3028298"/>
            <a:ext cx="184912" cy="149730"/>
          </a:xfrm>
          <a:prstGeom prst="ellipse">
            <a:avLst/>
          </a:prstGeom>
          <a:solidFill>
            <a:schemeClr val="bg1">
              <a:alpha val="56000"/>
            </a:schemeClr>
          </a:solidFill>
          <a:ln w="44450">
            <a:solidFill>
              <a:srgbClr val="8C3FC5"/>
            </a:solidFill>
          </a:ln>
          <a:effectLst>
            <a:glow rad="63500">
              <a:srgbClr val="8C3FC5">
                <a:alpha val="8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751B4B-7EAC-1ACC-7239-E0FD85C8576B}"/>
              </a:ext>
            </a:extLst>
          </p:cNvPr>
          <p:cNvSpPr txBox="1"/>
          <p:nvPr/>
        </p:nvSpPr>
        <p:spPr>
          <a:xfrm>
            <a:off x="585109" y="942596"/>
            <a:ext cx="8033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CityFlow</a:t>
            </a:r>
            <a:r>
              <a:rPr lang="ru-RU" sz="2000" b="1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= 3 карты + часы пик + интерактив + аналитика</a:t>
            </a:r>
            <a:endParaRPr lang="ru-RU" sz="20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613452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98CB971D-45AA-AB1A-DD63-9A06F175C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4C80CC-EF8F-4564-94F1-C0C9183B335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0" name="Google Shape;60;g30926c71de0_0_142">
            <a:extLst>
              <a:ext uri="{FF2B5EF4-FFF2-40B4-BE49-F238E27FC236}">
                <a16:creationId xmlns:a16="http://schemas.microsoft.com/office/drawing/2014/main" id="{47C77D1E-77D5-2DBE-E6B1-D47BB46F2EF3}"/>
              </a:ext>
            </a:extLst>
          </p:cNvPr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78;g30926c71de0_0_159">
            <a:extLst>
              <a:ext uri="{FF2B5EF4-FFF2-40B4-BE49-F238E27FC236}">
                <a16:creationId xmlns:a16="http://schemas.microsoft.com/office/drawing/2014/main" id="{7463278C-39ED-2A7F-D4A3-7CBC262AF496}"/>
              </a:ext>
            </a:extLst>
          </p:cNvPr>
          <p:cNvSpPr/>
          <p:nvPr/>
        </p:nvSpPr>
        <p:spPr>
          <a:xfrm>
            <a:off x="4633993" y="3975315"/>
            <a:ext cx="4028093" cy="8438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800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CFF543-1F0D-5522-8430-EB540E1EBDCA}"/>
              </a:ext>
            </a:extLst>
          </p:cNvPr>
          <p:cNvSpPr txBox="1"/>
          <p:nvPr/>
        </p:nvSpPr>
        <p:spPr>
          <a:xfrm>
            <a:off x="3959817" y="3161654"/>
            <a:ext cx="1959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Montserrat Medium" panose="00000600000000000000" pitchFamily="2" charset="-52"/>
              </a:rPr>
              <a:t>Город в движении</a:t>
            </a:r>
          </a:p>
        </p:txBody>
      </p:sp>
    </p:spTree>
    <p:extLst>
      <p:ext uri="{BB962C8B-B14F-4D97-AF65-F5344CB8AC3E}">
        <p14:creationId xmlns:p14="http://schemas.microsoft.com/office/powerpoint/2010/main" val="351691534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307</Words>
  <Application>Microsoft Office PowerPoint</Application>
  <PresentationFormat>Экран (16:9)</PresentationFormat>
  <Paragraphs>77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Montserrat</vt:lpstr>
      <vt:lpstr>Montserrat SemiBold</vt:lpstr>
      <vt:lpstr>Montserrat Medium</vt:lpstr>
      <vt:lpstr>Arial</vt:lpstr>
      <vt:lpstr>Montserrat ExtraBold</vt:lpstr>
      <vt:lpstr>Simple Light</vt:lpstr>
      <vt:lpstr>Презентация PowerPoint</vt:lpstr>
      <vt:lpstr>Презентация PowerPoint</vt:lpstr>
      <vt:lpstr>Транспортный кризис 2030</vt:lpstr>
      <vt:lpstr>Информационный вакуум</vt:lpstr>
      <vt:lpstr>Цена ошибки</vt:lpstr>
      <vt:lpstr>CityFlow – песочница для города</vt:lpstr>
      <vt:lpstr>Кому будет полезен наш проект?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Александра Мамаева</dc:creator>
  <cp:lastModifiedBy>alyona</cp:lastModifiedBy>
  <cp:revision>33</cp:revision>
  <dcterms:modified xsi:type="dcterms:W3CDTF">2026-05-21T12:38:26Z</dcterms:modified>
</cp:coreProperties>
</file>